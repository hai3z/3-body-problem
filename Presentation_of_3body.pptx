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55" d="100"/>
          <a:sy n="55" d="100"/>
        </p:scale>
        <p:origin x="1060" y="4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140AFAF6-C44F-4D0F-AD18-07D6520E52F6}" type="slidenum">
              <a:rPr lang="en-US" smtClean="0"/>
              <a:t>‹#›</a:t>
            </a:fld>
            <a:endParaRPr lang="en-US"/>
          </a:p>
        </p:txBody>
      </p:sp>
    </p:spTree>
    <p:extLst>
      <p:ext uri="{BB962C8B-B14F-4D97-AF65-F5344CB8AC3E}">
        <p14:creationId xmlns:p14="http://schemas.microsoft.com/office/powerpoint/2010/main" val="42337366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938894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140AFAF6-C44F-4D0F-AD18-07D6520E52F6}" type="slidenum">
              <a:rPr lang="en-US" smtClean="0"/>
              <a:t>‹#›</a:t>
            </a:fld>
            <a:endParaRPr lang="en-US"/>
          </a:p>
        </p:txBody>
      </p:sp>
    </p:spTree>
    <p:extLst>
      <p:ext uri="{BB962C8B-B14F-4D97-AF65-F5344CB8AC3E}">
        <p14:creationId xmlns:p14="http://schemas.microsoft.com/office/powerpoint/2010/main" val="408890585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140AFAF6-C44F-4D0F-AD18-07D6520E52F6}" type="slidenum">
              <a:rPr lang="en-US" smtClean="0"/>
              <a:t>‹#›</a:t>
            </a:fld>
            <a:endParaRPr lang="en-US"/>
          </a:p>
        </p:txBody>
      </p:sp>
    </p:spTree>
    <p:extLst>
      <p:ext uri="{BB962C8B-B14F-4D97-AF65-F5344CB8AC3E}">
        <p14:creationId xmlns:p14="http://schemas.microsoft.com/office/powerpoint/2010/main" val="97105552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140AFAF6-C44F-4D0F-AD18-07D6520E52F6}" type="slidenum">
              <a:rPr lang="en-US" smtClean="0"/>
              <a:t>‹#›</a:t>
            </a:fld>
            <a:endParaRPr lang="en-US"/>
          </a:p>
        </p:txBody>
      </p:sp>
    </p:spTree>
    <p:extLst>
      <p:ext uri="{BB962C8B-B14F-4D97-AF65-F5344CB8AC3E}">
        <p14:creationId xmlns:p14="http://schemas.microsoft.com/office/powerpoint/2010/main" val="1747965302"/>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212144038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261037197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3337206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3950390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780147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618125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140AFAF6-C44F-4D0F-AD18-07D6520E52F6}"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9311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140AFAF6-C44F-4D0F-AD18-07D6520E52F6}"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998245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140AFAF6-C44F-4D0F-AD18-07D6520E52F6}" type="slidenum">
              <a:rPr lang="en-US" smtClean="0"/>
              <a:t>‹#›</a:t>
            </a:fld>
            <a:endParaRPr lang="en-US"/>
          </a:p>
        </p:txBody>
      </p:sp>
    </p:spTree>
    <p:extLst>
      <p:ext uri="{BB962C8B-B14F-4D97-AF65-F5344CB8AC3E}">
        <p14:creationId xmlns:p14="http://schemas.microsoft.com/office/powerpoint/2010/main" val="1129594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2251322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140AFAF6-C44F-4D0F-AD18-07D6520E52F6}"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9007000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140AFAF6-C44F-4D0F-AD18-07D6520E52F6}"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0929634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31795042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3941120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3608367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31535776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82880" y="1645920"/>
            <a:ext cx="5420409"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6248400" y="1645920"/>
            <a:ext cx="5261184"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28504021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81631"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6245352"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29062039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21916029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21101551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2887340255"/>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0AFAF6-C44F-4D0F-AD18-07D6520E52F6}" type="slidenum">
              <a:rPr lang="en-US" smtClean="0"/>
              <a:t>‹#›</a:t>
            </a:fld>
            <a:endParaRPr lang="en-US"/>
          </a:p>
        </p:txBody>
      </p:sp>
    </p:spTree>
    <p:extLst>
      <p:ext uri="{BB962C8B-B14F-4D97-AF65-F5344CB8AC3E}">
        <p14:creationId xmlns:p14="http://schemas.microsoft.com/office/powerpoint/2010/main" val="428945169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F432F269-2FF9-484E-85CA-3C5F46A1AC61}" type="datetimeFigureOut">
              <a:rPr lang="en-US" smtClean="0"/>
              <a:t>9/4/2026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140AFAF6-C44F-4D0F-AD18-07D6520E52F6}" type="slidenum">
              <a:rPr lang="en-US" smtClean="0"/>
              <a:t>‹#›</a:t>
            </a:fld>
            <a:endParaRPr lang="en-US"/>
          </a:p>
        </p:txBody>
      </p:sp>
    </p:spTree>
    <p:extLst>
      <p:ext uri="{BB962C8B-B14F-4D97-AF65-F5344CB8AC3E}">
        <p14:creationId xmlns:p14="http://schemas.microsoft.com/office/powerpoint/2010/main" val="318775373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Lst>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2C53304-EF79-EB84-0220-15778D2300A9}"/>
              </a:ext>
            </a:extLst>
          </p:cNvPr>
          <p:cNvPicPr>
            <a:picLocks noChangeAspect="1"/>
          </p:cNvPicPr>
          <p:nvPr/>
        </p:nvPicPr>
        <p:blipFill>
          <a:blip r:embed="rId2"/>
          <a:srcRect l="16715" b="29416"/>
          <a:stretch>
            <a:fillRect/>
          </a:stretch>
        </p:blipFill>
        <p:spPr>
          <a:xfrm>
            <a:off x="0" y="2281646"/>
            <a:ext cx="3817673" cy="4576354"/>
          </a:xfrm>
          <a:prstGeom prst="rect">
            <a:avLst/>
          </a:prstGeom>
        </p:spPr>
      </p:pic>
      <p:sp>
        <p:nvSpPr>
          <p:cNvPr id="8" name="TextBox 7">
            <a:extLst>
              <a:ext uri="{FF2B5EF4-FFF2-40B4-BE49-F238E27FC236}">
                <a16:creationId xmlns:a16="http://schemas.microsoft.com/office/drawing/2014/main" id="{B62CA482-5670-B1E2-5098-DF026728A2B2}"/>
              </a:ext>
            </a:extLst>
          </p:cNvPr>
          <p:cNvSpPr txBox="1"/>
          <p:nvPr/>
        </p:nvSpPr>
        <p:spPr>
          <a:xfrm>
            <a:off x="3817673" y="793002"/>
            <a:ext cx="7251380" cy="5693866"/>
          </a:xfrm>
          <a:prstGeom prst="rect">
            <a:avLst/>
          </a:prstGeom>
          <a:noFill/>
        </p:spPr>
        <p:txBody>
          <a:bodyPr wrap="square" rtlCol="0">
            <a:spAutoFit/>
          </a:bodyPr>
          <a:lstStyle/>
          <a:p>
            <a:pPr algn="ctr"/>
            <a:r>
              <a:rPr lang="en-US" sz="2800" dirty="0">
                <a:latin typeface="Modern Love" panose="04090805081005020601" pitchFamily="82" charset="0"/>
              </a:rPr>
              <a:t>Project </a:t>
            </a:r>
          </a:p>
          <a:p>
            <a:pPr algn="ctr"/>
            <a:r>
              <a:rPr lang="en-US" sz="2800" dirty="0">
                <a:latin typeface="Modern Love" panose="04090805081005020601" pitchFamily="82" charset="0"/>
              </a:rPr>
              <a:t>The Three Body Problem; Sun, Earth, and Jupiter</a:t>
            </a:r>
          </a:p>
          <a:p>
            <a:pPr algn="ctr"/>
            <a:endParaRPr lang="en-US" sz="2800" dirty="0">
              <a:latin typeface="Modern Love" panose="04090805081005020601" pitchFamily="82" charset="0"/>
            </a:endParaRPr>
          </a:p>
          <a:p>
            <a:pPr algn="ctr"/>
            <a:r>
              <a:rPr lang="en-US" sz="2800" dirty="0">
                <a:latin typeface="Modern Love" panose="04090805081005020601" pitchFamily="82" charset="0"/>
              </a:rPr>
              <a:t>By: </a:t>
            </a:r>
          </a:p>
          <a:p>
            <a:pPr algn="ctr"/>
            <a:r>
              <a:rPr lang="en-US" sz="2800" dirty="0">
                <a:latin typeface="Modern Love" panose="04090805081005020601" pitchFamily="82" charset="0"/>
              </a:rPr>
              <a:t>Aaron Eyoel</a:t>
            </a:r>
          </a:p>
          <a:p>
            <a:pPr algn="ctr"/>
            <a:r>
              <a:rPr lang="en-US" sz="2800" dirty="0">
                <a:latin typeface="Modern Love" panose="04090805081005020601" pitchFamily="82" charset="0"/>
              </a:rPr>
              <a:t>Haleluya Fasil</a:t>
            </a:r>
          </a:p>
          <a:p>
            <a:pPr algn="ctr"/>
            <a:r>
              <a:rPr lang="en-US" sz="2800" dirty="0">
                <a:latin typeface="Modern Love" panose="04090805081005020601" pitchFamily="82" charset="0"/>
              </a:rPr>
              <a:t>Hemen Aschalew</a:t>
            </a:r>
          </a:p>
          <a:p>
            <a:pPr algn="ctr"/>
            <a:r>
              <a:rPr lang="en-US" sz="2800" dirty="0">
                <a:latin typeface="Modern Love" panose="04090805081005020601" pitchFamily="82" charset="0"/>
              </a:rPr>
              <a:t>Meklit Birhanu</a:t>
            </a:r>
          </a:p>
          <a:p>
            <a:pPr algn="ctr"/>
            <a:r>
              <a:rPr lang="en-US" sz="2800" dirty="0">
                <a:latin typeface="Modern Love" panose="04090805081005020601" pitchFamily="82" charset="0"/>
              </a:rPr>
              <a:t>Yeamlak Cherinet</a:t>
            </a:r>
          </a:p>
          <a:p>
            <a:pPr algn="ctr"/>
            <a:endParaRPr lang="en-US" sz="2800" dirty="0">
              <a:latin typeface="Modern Love" panose="04090805081005020601" pitchFamily="82" charset="0"/>
            </a:endParaRPr>
          </a:p>
          <a:p>
            <a:pPr algn="ctr"/>
            <a:r>
              <a:rPr lang="en-US" sz="2800" dirty="0">
                <a:latin typeface="Modern Love" panose="04090805081005020601" pitchFamily="82" charset="0"/>
              </a:rPr>
              <a:t>AAU summer camp, September 2026</a:t>
            </a:r>
          </a:p>
          <a:p>
            <a:endParaRPr lang="en-US" sz="2800" dirty="0"/>
          </a:p>
        </p:txBody>
      </p:sp>
    </p:spTree>
    <p:extLst>
      <p:ext uri="{BB962C8B-B14F-4D97-AF65-F5344CB8AC3E}">
        <p14:creationId xmlns:p14="http://schemas.microsoft.com/office/powerpoint/2010/main" val="3679125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BE9C6-9AAB-E45F-186F-7BA9F24623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2136D7-0CDC-0276-C67F-0C9895F83943}"/>
              </a:ext>
            </a:extLst>
          </p:cNvPr>
          <p:cNvSpPr txBox="1"/>
          <p:nvPr/>
        </p:nvSpPr>
        <p:spPr>
          <a:xfrm>
            <a:off x="1585763" y="533514"/>
            <a:ext cx="1822608" cy="646331"/>
          </a:xfrm>
          <a:prstGeom prst="rect">
            <a:avLst/>
          </a:prstGeom>
          <a:noFill/>
        </p:spPr>
        <p:txBody>
          <a:bodyPr wrap="square" rtlCol="0">
            <a:spAutoFit/>
          </a:bodyPr>
          <a:lstStyle/>
          <a:p>
            <a:r>
              <a:rPr lang="en-US" sz="3600" dirty="0">
                <a:latin typeface="Modern Love" panose="04090805081005020601" pitchFamily="82" charset="0"/>
              </a:rPr>
              <a:t>Gravity</a:t>
            </a:r>
            <a:endParaRPr lang="en-US" dirty="0"/>
          </a:p>
        </p:txBody>
      </p:sp>
      <p:sp>
        <p:nvSpPr>
          <p:cNvPr id="3" name="TextBox 2">
            <a:extLst>
              <a:ext uri="{FF2B5EF4-FFF2-40B4-BE49-F238E27FC236}">
                <a16:creationId xmlns:a16="http://schemas.microsoft.com/office/drawing/2014/main" id="{D1826333-60E8-BF8C-15B1-FADFB0058C32}"/>
              </a:ext>
            </a:extLst>
          </p:cNvPr>
          <p:cNvSpPr txBox="1"/>
          <p:nvPr/>
        </p:nvSpPr>
        <p:spPr>
          <a:xfrm>
            <a:off x="1585763" y="1351508"/>
            <a:ext cx="4390494" cy="2862322"/>
          </a:xfrm>
          <a:prstGeom prst="rect">
            <a:avLst/>
          </a:prstGeom>
          <a:noFill/>
        </p:spPr>
        <p:txBody>
          <a:bodyPr wrap="square" rtlCol="0">
            <a:spAutoFit/>
          </a:bodyPr>
          <a:lstStyle/>
          <a:p>
            <a:r>
              <a:rPr lang="en-US" sz="2400" b="1" dirty="0">
                <a:latin typeface="Bradley Hand ITC" panose="03070402050302030203" pitchFamily="66" charset="0"/>
              </a:rPr>
              <a:t>Gravity is an invisible force that pulls any two objects with mass towards each other. </a:t>
            </a:r>
          </a:p>
          <a:p>
            <a:r>
              <a:rPr lang="en-US" sz="2400" b="1" dirty="0">
                <a:latin typeface="Bradley Hand ITC" panose="03070402050302030203" pitchFamily="66" charset="0"/>
              </a:rPr>
              <a:t>Sir Isaac Newton mathematically defined universal gravitation in 1687.</a:t>
            </a:r>
          </a:p>
          <a:p>
            <a:endParaRPr lang="en-US" dirty="0"/>
          </a:p>
          <a:p>
            <a:endParaRPr lang="en-US" dirty="0"/>
          </a:p>
        </p:txBody>
      </p:sp>
      <p:pic>
        <p:nvPicPr>
          <p:cNvPr id="5" name="Picture 4">
            <a:extLst>
              <a:ext uri="{FF2B5EF4-FFF2-40B4-BE49-F238E27FC236}">
                <a16:creationId xmlns:a16="http://schemas.microsoft.com/office/drawing/2014/main" id="{0E54183A-4846-F91E-D8DF-52FEDFFCD91E}"/>
              </a:ext>
            </a:extLst>
          </p:cNvPr>
          <p:cNvPicPr>
            <a:picLocks noChangeAspect="1"/>
          </p:cNvPicPr>
          <p:nvPr/>
        </p:nvPicPr>
        <p:blipFill>
          <a:blip r:embed="rId2"/>
          <a:srcRect l="24115" b="27279"/>
          <a:stretch>
            <a:fillRect/>
          </a:stretch>
        </p:blipFill>
        <p:spPr>
          <a:xfrm>
            <a:off x="0" y="2238103"/>
            <a:ext cx="3408371" cy="4619897"/>
          </a:xfrm>
          <a:prstGeom prst="rect">
            <a:avLst/>
          </a:prstGeom>
        </p:spPr>
      </p:pic>
      <p:sp>
        <p:nvSpPr>
          <p:cNvPr id="6" name="TextBox 5">
            <a:extLst>
              <a:ext uri="{FF2B5EF4-FFF2-40B4-BE49-F238E27FC236}">
                <a16:creationId xmlns:a16="http://schemas.microsoft.com/office/drawing/2014/main" id="{6CA4EAE2-EC25-0135-1DE0-A68A8F89ECE2}"/>
              </a:ext>
            </a:extLst>
          </p:cNvPr>
          <p:cNvSpPr txBox="1"/>
          <p:nvPr/>
        </p:nvSpPr>
        <p:spPr>
          <a:xfrm>
            <a:off x="6851107" y="3040651"/>
            <a:ext cx="3749296" cy="800219"/>
          </a:xfrm>
          <a:prstGeom prst="rect">
            <a:avLst/>
          </a:prstGeom>
          <a:noFill/>
        </p:spPr>
        <p:txBody>
          <a:bodyPr wrap="none" rtlCol="0">
            <a:spAutoFit/>
          </a:bodyPr>
          <a:lstStyle/>
          <a:p>
            <a:r>
              <a:rPr lang="en-US" sz="2800" dirty="0">
                <a:latin typeface="Modern Love" panose="04090805081005020601" pitchFamily="82" charset="0"/>
              </a:rPr>
              <a:t>The Two Body System</a:t>
            </a:r>
          </a:p>
          <a:p>
            <a:r>
              <a:rPr lang="en-US" dirty="0"/>
              <a:t> </a:t>
            </a:r>
          </a:p>
        </p:txBody>
      </p:sp>
      <p:sp>
        <p:nvSpPr>
          <p:cNvPr id="7" name="TextBox 6">
            <a:extLst>
              <a:ext uri="{FF2B5EF4-FFF2-40B4-BE49-F238E27FC236}">
                <a16:creationId xmlns:a16="http://schemas.microsoft.com/office/drawing/2014/main" id="{F24D1555-F19B-04F6-34B9-8B01BD5A72EB}"/>
              </a:ext>
            </a:extLst>
          </p:cNvPr>
          <p:cNvSpPr txBox="1"/>
          <p:nvPr/>
        </p:nvSpPr>
        <p:spPr>
          <a:xfrm>
            <a:off x="6966857" y="3840870"/>
            <a:ext cx="3875313" cy="2677656"/>
          </a:xfrm>
          <a:prstGeom prst="rect">
            <a:avLst/>
          </a:prstGeom>
          <a:noFill/>
        </p:spPr>
        <p:txBody>
          <a:bodyPr wrap="square" rtlCol="0">
            <a:spAutoFit/>
          </a:bodyPr>
          <a:lstStyle/>
          <a:p>
            <a:r>
              <a:rPr lang="en-US" sz="2400" b="1" dirty="0">
                <a:latin typeface="Bradley Hand ITC" panose="03070402050302030203" pitchFamily="66" charset="0"/>
              </a:rPr>
              <a:t>The two-body system is a foundational concept in physics that predicts the motion of two objects that interact with each other through a single force, usually gravity. </a:t>
            </a:r>
          </a:p>
        </p:txBody>
      </p:sp>
    </p:spTree>
    <p:extLst>
      <p:ext uri="{BB962C8B-B14F-4D97-AF65-F5344CB8AC3E}">
        <p14:creationId xmlns:p14="http://schemas.microsoft.com/office/powerpoint/2010/main" val="1580035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985B6-2FC8-EC17-7CD8-25D52EA4BA22}"/>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0F398BCE-11D6-CF50-C303-2608C3EAFA8C}"/>
              </a:ext>
            </a:extLst>
          </p:cNvPr>
          <p:cNvSpPr/>
          <p:nvPr/>
        </p:nvSpPr>
        <p:spPr>
          <a:xfrm>
            <a:off x="858250" y="339387"/>
            <a:ext cx="5237750" cy="2927572"/>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B29F6848-4B3C-F206-588E-3B2899D59041}"/>
              </a:ext>
            </a:extLst>
          </p:cNvPr>
          <p:cNvSpPr/>
          <p:nvPr/>
        </p:nvSpPr>
        <p:spPr>
          <a:xfrm>
            <a:off x="6312566" y="3408487"/>
            <a:ext cx="5237750" cy="2927572"/>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32317D40-1BAE-9338-9CE6-5E6870DBB218}"/>
              </a:ext>
            </a:extLst>
          </p:cNvPr>
          <p:cNvSpPr txBox="1"/>
          <p:nvPr/>
        </p:nvSpPr>
        <p:spPr>
          <a:xfrm>
            <a:off x="1208315" y="487675"/>
            <a:ext cx="3028950" cy="769441"/>
          </a:xfrm>
          <a:prstGeom prst="rect">
            <a:avLst/>
          </a:prstGeom>
          <a:noFill/>
        </p:spPr>
        <p:txBody>
          <a:bodyPr wrap="square" rtlCol="0">
            <a:spAutoFit/>
          </a:bodyPr>
          <a:lstStyle/>
          <a:p>
            <a:r>
              <a:rPr lang="en-US" sz="4400" dirty="0">
                <a:latin typeface="Modern Love" panose="04090805081005020601" pitchFamily="82" charset="0"/>
              </a:rPr>
              <a:t>Kepler</a:t>
            </a:r>
            <a:endParaRPr lang="en-US" dirty="0">
              <a:latin typeface="Modern Love" panose="04090805081005020601" pitchFamily="82" charset="0"/>
            </a:endParaRPr>
          </a:p>
        </p:txBody>
      </p:sp>
      <p:sp>
        <p:nvSpPr>
          <p:cNvPr id="24" name="TextBox 23">
            <a:extLst>
              <a:ext uri="{FF2B5EF4-FFF2-40B4-BE49-F238E27FC236}">
                <a16:creationId xmlns:a16="http://schemas.microsoft.com/office/drawing/2014/main" id="{8B64AEC7-5778-E159-2E96-E952420CAA9D}"/>
              </a:ext>
            </a:extLst>
          </p:cNvPr>
          <p:cNvSpPr txBox="1"/>
          <p:nvPr/>
        </p:nvSpPr>
        <p:spPr>
          <a:xfrm>
            <a:off x="6554001" y="3525051"/>
            <a:ext cx="2377440" cy="769441"/>
          </a:xfrm>
          <a:prstGeom prst="rect">
            <a:avLst/>
          </a:prstGeom>
          <a:noFill/>
        </p:spPr>
        <p:txBody>
          <a:bodyPr wrap="square" rtlCol="0">
            <a:spAutoFit/>
          </a:bodyPr>
          <a:lstStyle/>
          <a:p>
            <a:r>
              <a:rPr lang="en-US" sz="4400" dirty="0">
                <a:latin typeface="Modern Love" panose="04090805081005020601" pitchFamily="82" charset="0"/>
              </a:rPr>
              <a:t>Newton</a:t>
            </a:r>
            <a:endParaRPr lang="en-US" sz="4400" dirty="0"/>
          </a:p>
        </p:txBody>
      </p:sp>
      <p:sp>
        <p:nvSpPr>
          <p:cNvPr id="2" name="TextBox 1">
            <a:extLst>
              <a:ext uri="{FF2B5EF4-FFF2-40B4-BE49-F238E27FC236}">
                <a16:creationId xmlns:a16="http://schemas.microsoft.com/office/drawing/2014/main" id="{742064DE-DD34-6B15-3A1C-A519EBDB3EBD}"/>
              </a:ext>
            </a:extLst>
          </p:cNvPr>
          <p:cNvSpPr txBox="1"/>
          <p:nvPr/>
        </p:nvSpPr>
        <p:spPr>
          <a:xfrm>
            <a:off x="1768356" y="1345585"/>
            <a:ext cx="3814354" cy="1384995"/>
          </a:xfrm>
          <a:prstGeom prst="rect">
            <a:avLst/>
          </a:prstGeom>
          <a:noFill/>
        </p:spPr>
        <p:txBody>
          <a:bodyPr wrap="square" rtlCol="0">
            <a:spAutoFit/>
          </a:bodyPr>
          <a:lstStyle/>
          <a:p>
            <a:r>
              <a:rPr lang="en-US" sz="2800" b="1" dirty="0">
                <a:latin typeface="Bradley Hand ITC" panose="03070402050302030203" pitchFamily="66" charset="0"/>
              </a:rPr>
              <a:t>Described planetary orbits observationally in the early 1600’s</a:t>
            </a:r>
          </a:p>
        </p:txBody>
      </p:sp>
      <p:sp>
        <p:nvSpPr>
          <p:cNvPr id="3" name="TextBox 2">
            <a:extLst>
              <a:ext uri="{FF2B5EF4-FFF2-40B4-BE49-F238E27FC236}">
                <a16:creationId xmlns:a16="http://schemas.microsoft.com/office/drawing/2014/main" id="{0B4B4358-9A6D-4131-0AF1-5B72EC972CED}"/>
              </a:ext>
            </a:extLst>
          </p:cNvPr>
          <p:cNvSpPr txBox="1"/>
          <p:nvPr/>
        </p:nvSpPr>
        <p:spPr>
          <a:xfrm>
            <a:off x="6918309" y="4294492"/>
            <a:ext cx="4026263" cy="1938992"/>
          </a:xfrm>
          <a:prstGeom prst="rect">
            <a:avLst/>
          </a:prstGeom>
          <a:noFill/>
        </p:spPr>
        <p:txBody>
          <a:bodyPr wrap="square" rtlCol="0">
            <a:spAutoFit/>
          </a:bodyPr>
          <a:lstStyle/>
          <a:p>
            <a:r>
              <a:rPr lang="en-US" sz="2400" b="1" dirty="0">
                <a:latin typeface="Bradley Hand ITC" panose="03070402050302030203" pitchFamily="66" charset="0"/>
              </a:rPr>
              <a:t>In 1687, Newton officially solved the mathematical two body problem in 1687 in his famous work </a:t>
            </a:r>
            <a:r>
              <a:rPr lang="en-US" sz="2400" b="1" dirty="0" err="1">
                <a:latin typeface="Bradley Hand ITC" panose="03070402050302030203" pitchFamily="66" charset="0"/>
              </a:rPr>
              <a:t>principa</a:t>
            </a:r>
            <a:r>
              <a:rPr lang="en-US" sz="2400" b="1" dirty="0">
                <a:latin typeface="Bradley Hand ITC" panose="03070402050302030203" pitchFamily="66" charset="0"/>
              </a:rPr>
              <a:t> </a:t>
            </a:r>
            <a:r>
              <a:rPr lang="en-US" sz="2400" b="1" dirty="0" err="1">
                <a:latin typeface="Bradley Hand ITC" panose="03070402050302030203" pitchFamily="66" charset="0"/>
              </a:rPr>
              <a:t>mathematica</a:t>
            </a:r>
            <a:r>
              <a:rPr lang="en-US" sz="2400" b="1" dirty="0">
                <a:latin typeface="Bradley Hand ITC" panose="03070402050302030203" pitchFamily="66" charset="0"/>
              </a:rPr>
              <a:t>. </a:t>
            </a:r>
          </a:p>
        </p:txBody>
      </p:sp>
      <p:pic>
        <p:nvPicPr>
          <p:cNvPr id="10" name="Picture 9">
            <a:extLst>
              <a:ext uri="{FF2B5EF4-FFF2-40B4-BE49-F238E27FC236}">
                <a16:creationId xmlns:a16="http://schemas.microsoft.com/office/drawing/2014/main" id="{BF1475EB-31F4-D133-845B-2F3E88C0DDA5}"/>
              </a:ext>
            </a:extLst>
          </p:cNvPr>
          <p:cNvPicPr>
            <a:picLocks noChangeAspect="1"/>
          </p:cNvPicPr>
          <p:nvPr/>
        </p:nvPicPr>
        <p:blipFill>
          <a:blip r:embed="rId2"/>
          <a:srcRect/>
          <a:stretch>
            <a:fillRect/>
          </a:stretch>
        </p:blipFill>
        <p:spPr>
          <a:xfrm>
            <a:off x="1162612" y="2467516"/>
            <a:ext cx="3690240" cy="5219576"/>
          </a:xfrm>
          <a:prstGeom prst="rect">
            <a:avLst/>
          </a:prstGeom>
        </p:spPr>
      </p:pic>
      <p:pic>
        <p:nvPicPr>
          <p:cNvPr id="12" name="Picture 11">
            <a:extLst>
              <a:ext uri="{FF2B5EF4-FFF2-40B4-BE49-F238E27FC236}">
                <a16:creationId xmlns:a16="http://schemas.microsoft.com/office/drawing/2014/main" id="{9D867A94-B6D9-5A5D-0C67-340FCB21B8FE}"/>
              </a:ext>
            </a:extLst>
          </p:cNvPr>
          <p:cNvPicPr>
            <a:picLocks noChangeAspect="1"/>
          </p:cNvPicPr>
          <p:nvPr/>
        </p:nvPicPr>
        <p:blipFill>
          <a:blip r:embed="rId3"/>
          <a:srcRect/>
          <a:stretch>
            <a:fillRect/>
          </a:stretch>
        </p:blipFill>
        <p:spPr>
          <a:xfrm>
            <a:off x="7959877" y="339387"/>
            <a:ext cx="1943128" cy="2748413"/>
          </a:xfrm>
          <a:prstGeom prst="rect">
            <a:avLst/>
          </a:prstGeom>
        </p:spPr>
      </p:pic>
    </p:spTree>
    <p:extLst>
      <p:ext uri="{BB962C8B-B14F-4D97-AF65-F5344CB8AC3E}">
        <p14:creationId xmlns:p14="http://schemas.microsoft.com/office/powerpoint/2010/main" val="3564984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B3743-D688-8213-C457-56BB10A3901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823F9E3-1EC5-6968-FED9-5B624F90DD09}"/>
              </a:ext>
            </a:extLst>
          </p:cNvPr>
          <p:cNvPicPr>
            <a:picLocks noChangeAspect="1"/>
          </p:cNvPicPr>
          <p:nvPr/>
        </p:nvPicPr>
        <p:blipFill>
          <a:blip r:embed="rId2"/>
          <a:srcRect l="34419" b="36826"/>
          <a:stretch>
            <a:fillRect/>
          </a:stretch>
        </p:blipFill>
        <p:spPr>
          <a:xfrm>
            <a:off x="0" y="2525487"/>
            <a:ext cx="3179772" cy="4332514"/>
          </a:xfrm>
          <a:prstGeom prst="rect">
            <a:avLst/>
          </a:prstGeom>
        </p:spPr>
      </p:pic>
      <p:sp>
        <p:nvSpPr>
          <p:cNvPr id="2" name="TextBox 1">
            <a:extLst>
              <a:ext uri="{FF2B5EF4-FFF2-40B4-BE49-F238E27FC236}">
                <a16:creationId xmlns:a16="http://schemas.microsoft.com/office/drawing/2014/main" id="{EC8F4EA7-0F9E-699D-E0C1-D6C7F9638771}"/>
              </a:ext>
            </a:extLst>
          </p:cNvPr>
          <p:cNvSpPr txBox="1"/>
          <p:nvPr/>
        </p:nvSpPr>
        <p:spPr>
          <a:xfrm>
            <a:off x="653143" y="343093"/>
            <a:ext cx="4588328" cy="584775"/>
          </a:xfrm>
          <a:prstGeom prst="rect">
            <a:avLst/>
          </a:prstGeom>
          <a:noFill/>
        </p:spPr>
        <p:txBody>
          <a:bodyPr wrap="square" rtlCol="0">
            <a:spAutoFit/>
          </a:bodyPr>
          <a:lstStyle/>
          <a:p>
            <a:r>
              <a:rPr lang="en-US" sz="3200" dirty="0">
                <a:latin typeface="Modern Love" panose="04090805081005020601" pitchFamily="82" charset="0"/>
              </a:rPr>
              <a:t>The three body system</a:t>
            </a:r>
            <a:endParaRPr lang="en-US" dirty="0">
              <a:latin typeface="Modern Love" panose="04090805081005020601" pitchFamily="82" charset="0"/>
            </a:endParaRPr>
          </a:p>
        </p:txBody>
      </p:sp>
      <p:sp>
        <p:nvSpPr>
          <p:cNvPr id="4" name="TextBox 3">
            <a:extLst>
              <a:ext uri="{FF2B5EF4-FFF2-40B4-BE49-F238E27FC236}">
                <a16:creationId xmlns:a16="http://schemas.microsoft.com/office/drawing/2014/main" id="{3FFE23A3-ECFB-D3D5-1032-4B55E43F784C}"/>
              </a:ext>
            </a:extLst>
          </p:cNvPr>
          <p:cNvSpPr txBox="1"/>
          <p:nvPr/>
        </p:nvSpPr>
        <p:spPr>
          <a:xfrm>
            <a:off x="653143" y="1053210"/>
            <a:ext cx="5829300" cy="3416320"/>
          </a:xfrm>
          <a:prstGeom prst="rect">
            <a:avLst/>
          </a:prstGeom>
          <a:noFill/>
        </p:spPr>
        <p:txBody>
          <a:bodyPr wrap="square" rtlCol="0">
            <a:spAutoFit/>
          </a:bodyPr>
          <a:lstStyle/>
          <a:p>
            <a:r>
              <a:rPr lang="en-US" sz="2400" b="1" dirty="0">
                <a:latin typeface="Bradley Hand ITC" panose="03070402050302030203" pitchFamily="66" charset="0"/>
              </a:rPr>
              <a:t>A three-body system is any group of three physical objects in space that all pull on each other with gravity at the exact same time.</a:t>
            </a:r>
          </a:p>
          <a:p>
            <a:endParaRPr lang="en-US" sz="2400" b="1" dirty="0">
              <a:latin typeface="Bradley Hand ITC" panose="03070402050302030203" pitchFamily="66" charset="0"/>
            </a:endParaRPr>
          </a:p>
          <a:p>
            <a:r>
              <a:rPr lang="en-US" sz="2400" b="1" dirty="0">
                <a:latin typeface="Bradley Hand ITC" panose="03070402050302030203" pitchFamily="66" charset="0"/>
              </a:rPr>
              <a:t>Because every objects force constantly tugs and shifts the other two, their paths become impossible to predict with a single mathematical formula.</a:t>
            </a:r>
          </a:p>
        </p:txBody>
      </p:sp>
      <p:sp>
        <p:nvSpPr>
          <p:cNvPr id="5" name="TextBox 4">
            <a:extLst>
              <a:ext uri="{FF2B5EF4-FFF2-40B4-BE49-F238E27FC236}">
                <a16:creationId xmlns:a16="http://schemas.microsoft.com/office/drawing/2014/main" id="{2C6023D5-DC48-67EB-AF70-1BA526969AE9}"/>
              </a:ext>
            </a:extLst>
          </p:cNvPr>
          <p:cNvSpPr txBox="1"/>
          <p:nvPr/>
        </p:nvSpPr>
        <p:spPr>
          <a:xfrm>
            <a:off x="7249886" y="2761370"/>
            <a:ext cx="3837214" cy="584775"/>
          </a:xfrm>
          <a:prstGeom prst="rect">
            <a:avLst/>
          </a:prstGeom>
          <a:noFill/>
        </p:spPr>
        <p:txBody>
          <a:bodyPr wrap="square" rtlCol="0">
            <a:spAutoFit/>
          </a:bodyPr>
          <a:lstStyle/>
          <a:p>
            <a:r>
              <a:rPr lang="en-US" sz="3200" dirty="0">
                <a:latin typeface="Modern Love" panose="04090805081005020601" pitchFamily="82" charset="0"/>
              </a:rPr>
              <a:t>2009</a:t>
            </a:r>
            <a:r>
              <a:rPr lang="en-US" sz="2800" dirty="0">
                <a:latin typeface="Modern Love" panose="04090805081005020601" pitchFamily="82" charset="0"/>
              </a:rPr>
              <a:t> </a:t>
            </a:r>
            <a:r>
              <a:rPr lang="en-US" sz="3200" dirty="0">
                <a:latin typeface="Modern Love" panose="04090805081005020601" pitchFamily="82" charset="0"/>
              </a:rPr>
              <a:t>experiment</a:t>
            </a:r>
            <a:endParaRPr lang="en-US" sz="2800" dirty="0">
              <a:latin typeface="Modern Love" panose="04090805081005020601" pitchFamily="82" charset="0"/>
            </a:endParaRPr>
          </a:p>
        </p:txBody>
      </p:sp>
      <p:sp>
        <p:nvSpPr>
          <p:cNvPr id="6" name="TextBox 5">
            <a:extLst>
              <a:ext uri="{FF2B5EF4-FFF2-40B4-BE49-F238E27FC236}">
                <a16:creationId xmlns:a16="http://schemas.microsoft.com/office/drawing/2014/main" id="{19ED7511-A914-BE88-45B8-6F621DA61ACA}"/>
              </a:ext>
            </a:extLst>
          </p:cNvPr>
          <p:cNvSpPr txBox="1"/>
          <p:nvPr/>
        </p:nvSpPr>
        <p:spPr>
          <a:xfrm>
            <a:off x="6825342" y="3429000"/>
            <a:ext cx="5061858" cy="3046988"/>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Bradley Hand ITC" panose="03070402050302030203" pitchFamily="66" charset="0"/>
              </a:rPr>
              <a:t>2,500 simulations: Supercomputer modeled our solar system 5 billion years into the future.</a:t>
            </a:r>
          </a:p>
          <a:p>
            <a:pPr marL="342900" indent="-342900">
              <a:buFont typeface="Arial" panose="020B0604020202020204" pitchFamily="34" charset="0"/>
              <a:buChar char="•"/>
            </a:pPr>
            <a:r>
              <a:rPr lang="en-US" sz="2400" b="1" dirty="0">
                <a:latin typeface="Bradley Hand ITC" panose="03070402050302030203" pitchFamily="66" charset="0"/>
              </a:rPr>
              <a:t>1 mm shift: Moving mercury changed the final outcome drastically</a:t>
            </a:r>
          </a:p>
          <a:p>
            <a:pPr marL="342900" indent="-342900">
              <a:buFont typeface="Arial" panose="020B0604020202020204" pitchFamily="34" charset="0"/>
              <a:buChar char="•"/>
            </a:pPr>
            <a:r>
              <a:rPr lang="en-US" sz="2400" b="1" dirty="0">
                <a:latin typeface="Bradley Hand ITC" panose="03070402050302030203" pitchFamily="66" charset="0"/>
              </a:rPr>
              <a:t>3 major outcomes, one important conclusion</a:t>
            </a:r>
          </a:p>
        </p:txBody>
      </p:sp>
    </p:spTree>
    <p:extLst>
      <p:ext uri="{BB962C8B-B14F-4D97-AF65-F5344CB8AC3E}">
        <p14:creationId xmlns:p14="http://schemas.microsoft.com/office/powerpoint/2010/main" val="30238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4B742-2EAC-7EB4-4A33-EAF3553CE75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AFE6360-2B92-D273-3643-5B4DD0461416}"/>
              </a:ext>
            </a:extLst>
          </p:cNvPr>
          <p:cNvPicPr>
            <a:picLocks noChangeAspect="1"/>
          </p:cNvPicPr>
          <p:nvPr/>
        </p:nvPicPr>
        <p:blipFill>
          <a:blip r:embed="rId2"/>
          <a:srcRect l="25839" b="31004"/>
          <a:stretch>
            <a:fillRect/>
          </a:stretch>
        </p:blipFill>
        <p:spPr>
          <a:xfrm>
            <a:off x="0" y="2126255"/>
            <a:ext cx="3595764" cy="4731745"/>
          </a:xfrm>
          <a:prstGeom prst="rect">
            <a:avLst/>
          </a:prstGeom>
        </p:spPr>
      </p:pic>
      <p:sp>
        <p:nvSpPr>
          <p:cNvPr id="4" name="TextBox 3">
            <a:extLst>
              <a:ext uri="{FF2B5EF4-FFF2-40B4-BE49-F238E27FC236}">
                <a16:creationId xmlns:a16="http://schemas.microsoft.com/office/drawing/2014/main" id="{2126D0D8-5A65-CE32-2C00-EC4731989128}"/>
              </a:ext>
            </a:extLst>
          </p:cNvPr>
          <p:cNvSpPr txBox="1"/>
          <p:nvPr/>
        </p:nvSpPr>
        <p:spPr>
          <a:xfrm>
            <a:off x="355600" y="396240"/>
            <a:ext cx="3515360" cy="1938992"/>
          </a:xfrm>
          <a:prstGeom prst="rect">
            <a:avLst/>
          </a:prstGeom>
          <a:noFill/>
        </p:spPr>
        <p:txBody>
          <a:bodyPr wrap="square" rtlCol="0">
            <a:spAutoFit/>
          </a:bodyPr>
          <a:lstStyle/>
          <a:p>
            <a:r>
              <a:rPr lang="en-US" sz="4000" dirty="0">
                <a:latin typeface="Modern Love" panose="04090805081005020601" pitchFamily="82" charset="0"/>
              </a:rPr>
              <a:t>Properties of the three body problem</a:t>
            </a:r>
          </a:p>
        </p:txBody>
      </p:sp>
      <p:sp>
        <p:nvSpPr>
          <p:cNvPr id="2" name="TextBox 1">
            <a:extLst>
              <a:ext uri="{FF2B5EF4-FFF2-40B4-BE49-F238E27FC236}">
                <a16:creationId xmlns:a16="http://schemas.microsoft.com/office/drawing/2014/main" id="{196B4232-B044-3F4C-1E22-9A4B9EC8FF2A}"/>
              </a:ext>
            </a:extLst>
          </p:cNvPr>
          <p:cNvSpPr txBox="1"/>
          <p:nvPr/>
        </p:nvSpPr>
        <p:spPr>
          <a:xfrm>
            <a:off x="4212771" y="1632857"/>
            <a:ext cx="6433458" cy="3970318"/>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Bradley Hand ITC" panose="03070402050302030203" pitchFamily="66" charset="0"/>
              </a:rPr>
              <a:t>Deterministic but chaotic</a:t>
            </a:r>
          </a:p>
          <a:p>
            <a:pPr marL="457200" indent="-457200">
              <a:buFont typeface="Arial" panose="020B0604020202020204" pitchFamily="34" charset="0"/>
              <a:buChar char="•"/>
            </a:pPr>
            <a:endParaRPr lang="en-US" sz="2800" b="1" dirty="0">
              <a:latin typeface="Bradley Hand ITC" panose="03070402050302030203" pitchFamily="66" charset="0"/>
            </a:endParaRPr>
          </a:p>
          <a:p>
            <a:pPr marL="457200" indent="-457200">
              <a:buFont typeface="Arial" panose="020B0604020202020204" pitchFamily="34" charset="0"/>
              <a:buChar char="•"/>
            </a:pPr>
            <a:r>
              <a:rPr lang="en-US" sz="2800" b="1" dirty="0">
                <a:latin typeface="Bradley Hand ITC" panose="03070402050302030203" pitchFamily="66" charset="0"/>
              </a:rPr>
              <a:t>Even the smallest change and tiniest gravitational tweaks can eventually trigger planetary collisions.</a:t>
            </a:r>
          </a:p>
          <a:p>
            <a:pPr marL="457200" indent="-457200">
              <a:buFont typeface="Arial" panose="020B0604020202020204" pitchFamily="34" charset="0"/>
              <a:buChar char="•"/>
            </a:pPr>
            <a:endParaRPr lang="en-US" sz="2800" b="1" dirty="0">
              <a:latin typeface="Bradley Hand ITC" panose="03070402050302030203" pitchFamily="66" charset="0"/>
            </a:endParaRPr>
          </a:p>
          <a:p>
            <a:pPr marL="457200" indent="-457200">
              <a:buFont typeface="Arial" panose="020B0604020202020204" pitchFamily="34" charset="0"/>
              <a:buChar char="•"/>
            </a:pPr>
            <a:r>
              <a:rPr lang="en-US" sz="2800" b="1" dirty="0">
                <a:latin typeface="Bradley Hand ITC" panose="03070402050302030203" pitchFamily="66" charset="0"/>
              </a:rPr>
              <a:t>There is no single mathematical formula to represent the movement of each object.</a:t>
            </a:r>
          </a:p>
        </p:txBody>
      </p:sp>
    </p:spTree>
    <p:extLst>
      <p:ext uri="{BB962C8B-B14F-4D97-AF65-F5344CB8AC3E}">
        <p14:creationId xmlns:p14="http://schemas.microsoft.com/office/powerpoint/2010/main" val="3774322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2A2AE-5D9D-59AD-56C1-0566A608F03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D749970-63FF-671B-9528-93EE28B76B6D}"/>
              </a:ext>
            </a:extLst>
          </p:cNvPr>
          <p:cNvPicPr>
            <a:picLocks noChangeAspect="1"/>
          </p:cNvPicPr>
          <p:nvPr/>
        </p:nvPicPr>
        <p:blipFill>
          <a:blip r:embed="rId2"/>
          <a:srcRect t="35984" r="27430"/>
          <a:stretch>
            <a:fillRect/>
          </a:stretch>
        </p:blipFill>
        <p:spPr>
          <a:xfrm rot="10800000">
            <a:off x="0" y="2467778"/>
            <a:ext cx="3518646" cy="4390222"/>
          </a:xfrm>
          <a:prstGeom prst="rect">
            <a:avLst/>
          </a:prstGeom>
        </p:spPr>
      </p:pic>
      <p:sp>
        <p:nvSpPr>
          <p:cNvPr id="2" name="TextBox 1">
            <a:extLst>
              <a:ext uri="{FF2B5EF4-FFF2-40B4-BE49-F238E27FC236}">
                <a16:creationId xmlns:a16="http://schemas.microsoft.com/office/drawing/2014/main" id="{E9BDB5CC-3994-34B3-8FB8-CA07DAFE7378}"/>
              </a:ext>
            </a:extLst>
          </p:cNvPr>
          <p:cNvSpPr txBox="1"/>
          <p:nvPr/>
        </p:nvSpPr>
        <p:spPr>
          <a:xfrm>
            <a:off x="584522" y="643622"/>
            <a:ext cx="2141317" cy="1077218"/>
          </a:xfrm>
          <a:prstGeom prst="rect">
            <a:avLst/>
          </a:prstGeom>
          <a:noFill/>
        </p:spPr>
        <p:txBody>
          <a:bodyPr wrap="square" rtlCol="0">
            <a:spAutoFit/>
          </a:bodyPr>
          <a:lstStyle/>
          <a:p>
            <a:r>
              <a:rPr lang="en-US" sz="3200" dirty="0">
                <a:latin typeface="Modern Love" panose="04090805081005020601" pitchFamily="82" charset="0"/>
              </a:rPr>
              <a:t>Project Objective</a:t>
            </a:r>
          </a:p>
        </p:txBody>
      </p:sp>
      <p:sp>
        <p:nvSpPr>
          <p:cNvPr id="4" name="TextBox 3">
            <a:extLst>
              <a:ext uri="{FF2B5EF4-FFF2-40B4-BE49-F238E27FC236}">
                <a16:creationId xmlns:a16="http://schemas.microsoft.com/office/drawing/2014/main" id="{2ADB6915-C67A-C63F-CA4D-E63150D568CA}"/>
              </a:ext>
            </a:extLst>
          </p:cNvPr>
          <p:cNvSpPr txBox="1"/>
          <p:nvPr/>
        </p:nvSpPr>
        <p:spPr>
          <a:xfrm>
            <a:off x="3345086" y="1570369"/>
            <a:ext cx="7326774" cy="4401205"/>
          </a:xfrm>
          <a:prstGeom prst="rect">
            <a:avLst/>
          </a:prstGeom>
          <a:noFill/>
        </p:spPr>
        <p:txBody>
          <a:bodyPr wrap="square" rtlCol="0">
            <a:spAutoFit/>
          </a:bodyPr>
          <a:lstStyle/>
          <a:p>
            <a:pPr marL="342900" indent="-342900">
              <a:buFont typeface="Arial" panose="020B0604020202020204" pitchFamily="34" charset="0"/>
              <a:buChar char="•"/>
            </a:pPr>
            <a:r>
              <a:rPr lang="en-US" sz="2800" b="1" dirty="0">
                <a:latin typeface="Bradley Hand ITC" panose="03070402050302030203" pitchFamily="66" charset="0"/>
              </a:rPr>
              <a:t>Jupiter exerts a gravitational force on the Earth every once in a while, when they line up. </a:t>
            </a:r>
          </a:p>
          <a:p>
            <a:pPr marL="342900" indent="-342900">
              <a:buFont typeface="Arial" panose="020B0604020202020204" pitchFamily="34" charset="0"/>
              <a:buChar char="•"/>
            </a:pPr>
            <a:endParaRPr lang="en-US" sz="2800" b="1" dirty="0">
              <a:latin typeface="Bradley Hand ITC" panose="03070402050302030203" pitchFamily="66" charset="0"/>
            </a:endParaRPr>
          </a:p>
          <a:p>
            <a:pPr marL="342900" indent="-342900">
              <a:buFont typeface="Arial" panose="020B0604020202020204" pitchFamily="34" charset="0"/>
              <a:buChar char="•"/>
            </a:pPr>
            <a:r>
              <a:rPr lang="en-US" sz="2800" b="1" dirty="0">
                <a:latin typeface="Bradley Hand ITC" panose="03070402050302030203" pitchFamily="66" charset="0"/>
              </a:rPr>
              <a:t>This phenomena triggered a question: Will Jupiter be able to pull the earth away from its orbit after millions or billions of years?</a:t>
            </a:r>
          </a:p>
          <a:p>
            <a:pPr marL="342900" indent="-342900">
              <a:buFont typeface="Arial" panose="020B0604020202020204" pitchFamily="34" charset="0"/>
              <a:buChar char="•"/>
            </a:pPr>
            <a:endParaRPr lang="en-US" sz="2800" b="1" dirty="0">
              <a:latin typeface="Bradley Hand ITC" panose="03070402050302030203" pitchFamily="66" charset="0"/>
            </a:endParaRPr>
          </a:p>
          <a:p>
            <a:pPr marL="342900" indent="-342900">
              <a:buFont typeface="Arial" panose="020B0604020202020204" pitchFamily="34" charset="0"/>
              <a:buChar char="•"/>
            </a:pPr>
            <a:r>
              <a:rPr lang="en-US" sz="2800" b="1" dirty="0">
                <a:latin typeface="Bradley Hand ITC" panose="03070402050302030203" pitchFamily="66" charset="0"/>
              </a:rPr>
              <a:t>Our main goal: to find out if Jupiter actually pulls the earth away in the foreseeable future.</a:t>
            </a:r>
          </a:p>
        </p:txBody>
      </p:sp>
    </p:spTree>
    <p:extLst>
      <p:ext uri="{BB962C8B-B14F-4D97-AF65-F5344CB8AC3E}">
        <p14:creationId xmlns:p14="http://schemas.microsoft.com/office/powerpoint/2010/main" val="160162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399CB-72FD-9C6D-8ED2-A587E39582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9A2980-036A-80EF-1623-F03709212728}"/>
              </a:ext>
            </a:extLst>
          </p:cNvPr>
          <p:cNvPicPr>
            <a:picLocks noChangeAspect="1"/>
          </p:cNvPicPr>
          <p:nvPr/>
        </p:nvPicPr>
        <p:blipFill>
          <a:blip r:embed="rId2"/>
          <a:srcRect l="-3103" t="-2700" r="38234" b="45275"/>
          <a:stretch>
            <a:fillRect/>
          </a:stretch>
        </p:blipFill>
        <p:spPr>
          <a:xfrm rot="5400000">
            <a:off x="396474" y="3316280"/>
            <a:ext cx="3145244" cy="3938195"/>
          </a:xfrm>
          <a:prstGeom prst="rect">
            <a:avLst/>
          </a:prstGeom>
        </p:spPr>
      </p:pic>
      <p:sp>
        <p:nvSpPr>
          <p:cNvPr id="2" name="TextBox 1">
            <a:extLst>
              <a:ext uri="{FF2B5EF4-FFF2-40B4-BE49-F238E27FC236}">
                <a16:creationId xmlns:a16="http://schemas.microsoft.com/office/drawing/2014/main" id="{9C211E37-022D-B1C8-F85F-020767292ECF}"/>
              </a:ext>
            </a:extLst>
          </p:cNvPr>
          <p:cNvSpPr txBox="1"/>
          <p:nvPr/>
        </p:nvSpPr>
        <p:spPr>
          <a:xfrm>
            <a:off x="2720050" y="393539"/>
            <a:ext cx="9340769" cy="6278642"/>
          </a:xfrm>
          <a:prstGeom prst="rect">
            <a:avLst/>
          </a:prstGeom>
          <a:noFill/>
        </p:spPr>
        <p:txBody>
          <a:bodyPr wrap="square" rtlCol="0">
            <a:spAutoFit/>
          </a:bodyPr>
          <a:lstStyle/>
          <a:p>
            <a:r>
              <a:rPr lang="en-US" sz="2400" b="1" dirty="0">
                <a:latin typeface="Bradley Hand ITC" panose="03070402050302030203" pitchFamily="66" charset="0"/>
              </a:rPr>
              <a:t>Algorithm: </a:t>
            </a:r>
          </a:p>
          <a:p>
            <a:pPr marL="342900" indent="-342900">
              <a:buFont typeface="Arial" panose="020B0604020202020204" pitchFamily="34" charset="0"/>
              <a:buChar char="•"/>
            </a:pPr>
            <a:r>
              <a:rPr lang="en-US" sz="2400" b="1" dirty="0">
                <a:latin typeface="Bradley Hand ITC" panose="03070402050302030203" pitchFamily="66" charset="0"/>
              </a:rPr>
              <a:t>Step 1 — Load the tools</a:t>
            </a:r>
            <a:br>
              <a:rPr lang="en-US" sz="2400" b="1" dirty="0">
                <a:latin typeface="Bradley Hand ITC" panose="03070402050302030203" pitchFamily="66" charset="0"/>
              </a:rPr>
            </a:br>
            <a:r>
              <a:rPr lang="en-US" sz="2400" b="1" dirty="0">
                <a:latin typeface="Bradley Hand ITC" panose="03070402050302030203" pitchFamily="66" charset="0"/>
              </a:rPr>
              <a:t>NumPy for math</a:t>
            </a:r>
            <a:br>
              <a:rPr lang="en-US" sz="2400" b="1" dirty="0">
                <a:latin typeface="Bradley Hand ITC" panose="03070402050302030203" pitchFamily="66" charset="0"/>
              </a:rPr>
            </a:br>
            <a:r>
              <a:rPr lang="en-US" sz="2400" b="1" dirty="0">
                <a:latin typeface="Bradley Hand ITC" panose="03070402050302030203" pitchFamily="66" charset="0"/>
              </a:rPr>
              <a:t>Matplotlib for graphs</a:t>
            </a:r>
          </a:p>
          <a:p>
            <a:pPr marL="342900" indent="-342900">
              <a:buFont typeface="Arial" panose="020B0604020202020204" pitchFamily="34" charset="0"/>
              <a:buChar char="•"/>
            </a:pPr>
            <a:r>
              <a:rPr lang="en-US" sz="2400" b="1" dirty="0">
                <a:latin typeface="Bradley Hand ITC" panose="03070402050302030203" pitchFamily="66" charset="0"/>
              </a:rPr>
              <a:t>Step 2 — Define two reusable functions</a:t>
            </a:r>
            <a:br>
              <a:rPr lang="en-US" sz="2400" b="1" dirty="0">
                <a:latin typeface="Bradley Hand ITC" panose="03070402050302030203" pitchFamily="66" charset="0"/>
              </a:rPr>
            </a:br>
            <a:r>
              <a:rPr lang="en-US" sz="2400" b="1" dirty="0">
                <a:latin typeface="Bradley Hand ITC" panose="03070402050302030203" pitchFamily="66" charset="0"/>
              </a:rPr>
              <a:t>In this step, two functions are set; one for velocity, the other for position. These formulas are to be used later in the code. </a:t>
            </a:r>
          </a:p>
          <a:p>
            <a:pPr marL="342900" indent="-342900">
              <a:buFont typeface="Arial" panose="020B0604020202020204" pitchFamily="34" charset="0"/>
              <a:buChar char="•"/>
            </a:pPr>
            <a:r>
              <a:rPr lang="en-US" sz="2400" b="1" dirty="0">
                <a:latin typeface="Bradley Hand ITC" panose="03070402050302030203" pitchFamily="66" charset="0"/>
              </a:rPr>
              <a:t>Step 3 — Set the constants</a:t>
            </a:r>
            <a:br>
              <a:rPr lang="en-US" sz="2400" b="1" dirty="0">
                <a:latin typeface="Bradley Hand ITC" panose="03070402050302030203" pitchFamily="66" charset="0"/>
              </a:rPr>
            </a:br>
            <a:r>
              <a:rPr lang="en-US" sz="2400" b="1" dirty="0">
                <a:latin typeface="Bradley Hand ITC" panose="03070402050302030203" pitchFamily="66" charset="0"/>
              </a:rPr>
              <a:t>Constant Values: these are values that are not going to change throughout the entire code</a:t>
            </a:r>
          </a:p>
          <a:p>
            <a:pPr marL="342900" lvl="0" indent="-342900">
              <a:buFont typeface="Courier New" panose="02070309020205020404" pitchFamily="49" charset="0"/>
              <a:buChar char="o"/>
            </a:pPr>
            <a:r>
              <a:rPr lang="en-US" sz="2400" b="1" dirty="0">
                <a:latin typeface="Bradley Hand ITC" panose="03070402050302030203" pitchFamily="66" charset="0"/>
              </a:rPr>
              <a:t>G = 6.674×10⁻¹¹ (Gravitational constant) </a:t>
            </a:r>
          </a:p>
          <a:p>
            <a:pPr marL="342900" lvl="0" indent="-342900">
              <a:buFont typeface="Courier New" panose="02070309020205020404" pitchFamily="49" charset="0"/>
              <a:buChar char="o"/>
            </a:pPr>
            <a:r>
              <a:rPr lang="en-US" sz="2400" b="1" dirty="0">
                <a:latin typeface="Bradley Hand ITC" panose="03070402050302030203" pitchFamily="66" charset="0"/>
              </a:rPr>
              <a:t>ms = 1.989×10³⁰ kg</a:t>
            </a:r>
          </a:p>
          <a:p>
            <a:pPr marL="342900" lvl="0" indent="-342900">
              <a:buFont typeface="Courier New" panose="02070309020205020404" pitchFamily="49" charset="0"/>
              <a:buChar char="o"/>
            </a:pPr>
            <a:r>
              <a:rPr lang="en-US" sz="2400" b="1" dirty="0">
                <a:latin typeface="Bradley Hand ITC" panose="03070402050302030203" pitchFamily="66" charset="0"/>
              </a:rPr>
              <a:t>me = 5.972×10²⁴ kg</a:t>
            </a:r>
          </a:p>
          <a:p>
            <a:pPr marL="342900" lvl="0" indent="-342900">
              <a:buFont typeface="Courier New" panose="02070309020205020404" pitchFamily="49" charset="0"/>
              <a:buChar char="o"/>
            </a:pPr>
            <a:r>
              <a:rPr lang="en-US" sz="2400" b="1" dirty="0" err="1">
                <a:latin typeface="Bradley Hand ITC" panose="03070402050302030203" pitchFamily="66" charset="0"/>
              </a:rPr>
              <a:t>mj</a:t>
            </a:r>
            <a:r>
              <a:rPr lang="en-US" sz="2400" b="1" dirty="0">
                <a:latin typeface="Bradley Hand ITC" panose="03070402050302030203" pitchFamily="66" charset="0"/>
              </a:rPr>
              <a:t> = 1.898×10²⁷ kg</a:t>
            </a:r>
          </a:p>
          <a:p>
            <a:pPr marL="342900" lvl="0" indent="-342900">
              <a:buFont typeface="Courier New" panose="02070309020205020404" pitchFamily="49" charset="0"/>
              <a:buChar char="o"/>
            </a:pPr>
            <a:r>
              <a:rPr lang="en-US" sz="2400" b="1" dirty="0">
                <a:latin typeface="Bradley Hand ITC" panose="03070402050302030203" pitchFamily="66" charset="0"/>
              </a:rPr>
              <a:t>dt = 300 seconds (Time step: 5 minutes per loop pass)</a:t>
            </a:r>
          </a:p>
          <a:p>
            <a:pPr marL="342900" lvl="0" indent="-342900">
              <a:buFont typeface="Courier New" panose="02070309020205020404" pitchFamily="49" charset="0"/>
              <a:buChar char="o"/>
            </a:pPr>
            <a:r>
              <a:rPr lang="en-US" sz="2400" b="1" dirty="0">
                <a:latin typeface="Bradley Hand ITC" panose="03070402050302030203" pitchFamily="66" charset="0"/>
              </a:rPr>
              <a:t>Total simulation time — 12 years in seconds</a:t>
            </a:r>
          </a:p>
          <a:p>
            <a:endParaRPr lang="en-US" dirty="0"/>
          </a:p>
        </p:txBody>
      </p:sp>
    </p:spTree>
    <p:extLst>
      <p:ext uri="{BB962C8B-B14F-4D97-AF65-F5344CB8AC3E}">
        <p14:creationId xmlns:p14="http://schemas.microsoft.com/office/powerpoint/2010/main" val="3891425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65F90-27D4-3CA4-7351-CACDBB98807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2C9EDC3-D65A-FEE8-A726-8E2C0D9FE513}"/>
              </a:ext>
            </a:extLst>
          </p:cNvPr>
          <p:cNvPicPr>
            <a:picLocks noChangeAspect="1"/>
          </p:cNvPicPr>
          <p:nvPr/>
        </p:nvPicPr>
        <p:blipFill>
          <a:blip r:embed="rId2"/>
          <a:srcRect l="42239" t="-3207" r="-10265" b="39191"/>
          <a:stretch>
            <a:fillRect/>
          </a:stretch>
        </p:blipFill>
        <p:spPr>
          <a:xfrm>
            <a:off x="0" y="2467778"/>
            <a:ext cx="3298308" cy="4390222"/>
          </a:xfrm>
          <a:prstGeom prst="rect">
            <a:avLst/>
          </a:prstGeom>
        </p:spPr>
      </p:pic>
      <p:sp>
        <p:nvSpPr>
          <p:cNvPr id="2" name="TextBox 1">
            <a:extLst>
              <a:ext uri="{FF2B5EF4-FFF2-40B4-BE49-F238E27FC236}">
                <a16:creationId xmlns:a16="http://schemas.microsoft.com/office/drawing/2014/main" id="{C80EC98D-3407-DE48-62C3-B1473D8E0729}"/>
              </a:ext>
            </a:extLst>
          </p:cNvPr>
          <p:cNvSpPr txBox="1"/>
          <p:nvPr/>
        </p:nvSpPr>
        <p:spPr>
          <a:xfrm>
            <a:off x="2388243" y="312517"/>
            <a:ext cx="9803757" cy="6740307"/>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Bradley Hand ITC" panose="03070402050302030203" pitchFamily="66" charset="0"/>
              </a:rPr>
              <a:t>Step 4 — Set starting positions and velocities</a:t>
            </a:r>
            <a:br>
              <a:rPr lang="en-US" sz="2400" b="1" dirty="0">
                <a:latin typeface="Bradley Hand ITC" panose="03070402050302030203" pitchFamily="66" charset="0"/>
              </a:rPr>
            </a:br>
            <a:r>
              <a:rPr lang="en-US" sz="2400" b="1" dirty="0">
                <a:latin typeface="Bradley Hand ITC" panose="03070402050302030203" pitchFamily="66" charset="0"/>
              </a:rPr>
              <a:t>Sun starts at the origin (0, 0), initially at rest</a:t>
            </a:r>
            <a:br>
              <a:rPr lang="en-US" sz="2400" b="1" dirty="0">
                <a:latin typeface="Bradley Hand ITC" panose="03070402050302030203" pitchFamily="66" charset="0"/>
              </a:rPr>
            </a:br>
            <a:r>
              <a:rPr lang="en-US" sz="2400" b="1" dirty="0">
                <a:latin typeface="Bradley Hand ITC" panose="03070402050302030203" pitchFamily="66" charset="0"/>
              </a:rPr>
              <a:t>Earth starts 1.471×10¹¹ m to the right of the Sun, moving upward at 30,290 m/s</a:t>
            </a:r>
            <a:br>
              <a:rPr lang="en-US" sz="2400" b="1" dirty="0">
                <a:latin typeface="Bradley Hand ITC" panose="03070402050302030203" pitchFamily="66" charset="0"/>
              </a:rPr>
            </a:br>
            <a:r>
              <a:rPr lang="en-US" sz="2400" b="1" dirty="0">
                <a:latin typeface="Bradley Hand ITC" panose="03070402050302030203" pitchFamily="66" charset="0"/>
              </a:rPr>
              <a:t>Jupiter starts 7.405×10¹¹ m to the right of the Sun, moving upward at 13,070 m/s</a:t>
            </a:r>
          </a:p>
          <a:p>
            <a:pPr marL="342900" indent="-342900">
              <a:buFont typeface="Arial" panose="020B0604020202020204" pitchFamily="34" charset="0"/>
              <a:buChar char="•"/>
            </a:pPr>
            <a:r>
              <a:rPr lang="en-US" sz="2400" b="1" dirty="0">
                <a:latin typeface="Bradley Hand ITC" panose="03070402050302030203" pitchFamily="66" charset="0"/>
              </a:rPr>
              <a:t>Step 5 — Correct the Sun's position and velocity for conservation of momentum</a:t>
            </a:r>
            <a:br>
              <a:rPr lang="en-US" sz="2400" b="1" dirty="0">
                <a:latin typeface="Bradley Hand ITC" panose="03070402050302030203" pitchFamily="66" charset="0"/>
              </a:rPr>
            </a:br>
            <a:r>
              <a:rPr lang="en-US" sz="2400" b="1" dirty="0">
                <a:latin typeface="Bradley Hand ITC" panose="03070402050302030203" pitchFamily="66" charset="0"/>
              </a:rPr>
              <a:t>The total momentum of an isolated system must be zero. If Earth and Jupiter are already moving, the Sun must move slightly in the opposite direction to balance them.</a:t>
            </a:r>
          </a:p>
          <a:p>
            <a:pPr marL="342900" indent="-342900">
              <a:buFont typeface="Arial" panose="020B0604020202020204" pitchFamily="34" charset="0"/>
              <a:buChar char="•"/>
            </a:pPr>
            <a:r>
              <a:rPr lang="en-US" sz="2400" b="1" dirty="0">
                <a:latin typeface="Bradley Hand ITC" panose="03070402050302030203" pitchFamily="66" charset="0"/>
              </a:rPr>
              <a:t>Step 6 — Calculate the initial distances between every pair of bodies</a:t>
            </a:r>
            <a:br>
              <a:rPr lang="en-US" sz="2400" b="1" dirty="0">
                <a:latin typeface="Bradley Hand ITC" panose="03070402050302030203" pitchFamily="66" charset="0"/>
              </a:rPr>
            </a:br>
            <a:r>
              <a:rPr lang="en-US" sz="2400" b="1" dirty="0">
                <a:latin typeface="Bradley Hand ITC" panose="03070402050302030203" pitchFamily="66" charset="0"/>
              </a:rPr>
              <a:t>There are 3 unique pairs for distance: Earth–Sun, Jupiter–Sun, and Earth–Jupiter</a:t>
            </a:r>
          </a:p>
          <a:p>
            <a:r>
              <a:rPr lang="en-US" sz="2400" b="1" dirty="0">
                <a:latin typeface="Bradley Hand ITC" panose="03070402050302030203" pitchFamily="66" charset="0"/>
              </a:rPr>
              <a:t>dx_es = xe - xs,    r_es = √(dx_es² + dy_es²)</a:t>
            </a:r>
          </a:p>
          <a:p>
            <a:r>
              <a:rPr lang="en-US" sz="2400" b="1" dirty="0">
                <a:latin typeface="Bradley Hand ITC" panose="03070402050302030203" pitchFamily="66" charset="0"/>
              </a:rPr>
              <a:t>dx_js = xj - xs,    r_js = √(dx_js² + dy_js²)</a:t>
            </a:r>
          </a:p>
          <a:p>
            <a:r>
              <a:rPr lang="en-US" sz="2400" b="1" dirty="0">
                <a:latin typeface="Bradley Hand ITC" panose="03070402050302030203" pitchFamily="66" charset="0"/>
              </a:rPr>
              <a:t>dx_ej = xe - xj,    r_ej = √(dx_ej² + dy_ej²)</a:t>
            </a:r>
            <a:br>
              <a:rPr lang="en-US" sz="2400" b="1" dirty="0">
                <a:latin typeface="Bradley Hand ITC" panose="03070402050302030203" pitchFamily="66" charset="0"/>
              </a:rPr>
            </a:br>
            <a:endParaRPr lang="en-US" sz="2400" b="1" dirty="0">
              <a:latin typeface="Bradley Hand ITC" panose="03070402050302030203" pitchFamily="66" charset="0"/>
            </a:endParaRPr>
          </a:p>
        </p:txBody>
      </p:sp>
    </p:spTree>
    <p:extLst>
      <p:ext uri="{BB962C8B-B14F-4D97-AF65-F5344CB8AC3E}">
        <p14:creationId xmlns:p14="http://schemas.microsoft.com/office/powerpoint/2010/main" val="3966251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CCA80-9154-4213-53BE-7EEFC6594E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5F547EF-D2C7-0EB0-C63B-0D7841D6895C}"/>
              </a:ext>
            </a:extLst>
          </p:cNvPr>
          <p:cNvPicPr>
            <a:picLocks noChangeAspect="1"/>
          </p:cNvPicPr>
          <p:nvPr/>
        </p:nvPicPr>
        <p:blipFill>
          <a:blip r:embed="rId2"/>
          <a:srcRect l="40092" t="-3097" r="-15978" b="30376"/>
          <a:stretch>
            <a:fillRect/>
          </a:stretch>
        </p:blipFill>
        <p:spPr>
          <a:xfrm>
            <a:off x="0" y="2238103"/>
            <a:ext cx="3408371" cy="4619897"/>
          </a:xfrm>
          <a:prstGeom prst="rect">
            <a:avLst/>
          </a:prstGeom>
        </p:spPr>
      </p:pic>
      <p:sp>
        <p:nvSpPr>
          <p:cNvPr id="2" name="TextBox 1">
            <a:extLst>
              <a:ext uri="{FF2B5EF4-FFF2-40B4-BE49-F238E27FC236}">
                <a16:creationId xmlns:a16="http://schemas.microsoft.com/office/drawing/2014/main" id="{E658CAEF-F727-7296-7342-0F2ED1CFADF2}"/>
              </a:ext>
            </a:extLst>
          </p:cNvPr>
          <p:cNvSpPr txBox="1"/>
          <p:nvPr/>
        </p:nvSpPr>
        <p:spPr>
          <a:xfrm>
            <a:off x="2708476" y="219919"/>
            <a:ext cx="8762035" cy="6740307"/>
          </a:xfrm>
          <a:prstGeom prst="rect">
            <a:avLst/>
          </a:prstGeom>
          <a:noFill/>
        </p:spPr>
        <p:txBody>
          <a:bodyPr wrap="square" rtlCol="0">
            <a:spAutoFit/>
          </a:bodyPr>
          <a:lstStyle/>
          <a:p>
            <a:pPr marL="342900" indent="-342900">
              <a:buFont typeface="Arial" panose="020B0604020202020204" pitchFamily="34" charset="0"/>
              <a:buChar char="•"/>
            </a:pPr>
            <a:r>
              <a:rPr lang="en-US" sz="2200" b="1" dirty="0">
                <a:latin typeface="Bradley Hand ITC" panose="03070402050302030203" pitchFamily="66" charset="0"/>
              </a:rPr>
              <a:t>Step 7 — Calculate the initial acceleration of every object</a:t>
            </a:r>
            <a:br>
              <a:rPr lang="en-US" sz="2200" b="1" dirty="0">
                <a:latin typeface="Bradley Hand ITC" panose="03070402050302030203" pitchFamily="66" charset="0"/>
              </a:rPr>
            </a:br>
            <a:r>
              <a:rPr lang="en-US" sz="2200" b="1" dirty="0">
                <a:latin typeface="Bradley Hand ITC" panose="03070402050302030203" pitchFamily="66" charset="0"/>
              </a:rPr>
              <a:t>Each body is pulled by BOTH other bodies at the same time.</a:t>
            </a:r>
            <a:br>
              <a:rPr lang="en-US" sz="2200" b="1" dirty="0">
                <a:latin typeface="Bradley Hand ITC" panose="03070402050302030203" pitchFamily="66" charset="0"/>
              </a:rPr>
            </a:br>
            <a:r>
              <a:rPr lang="en-US" sz="2200" b="1" dirty="0">
                <a:latin typeface="Bradley Hand ITC" panose="03070402050302030203" pitchFamily="66" charset="0"/>
              </a:rPr>
              <a:t>The total acceleration is the sum of both pulls:</a:t>
            </a:r>
          </a:p>
          <a:p>
            <a:r>
              <a:rPr lang="en-US" sz="2200" b="1" dirty="0">
                <a:latin typeface="Bradley Hand ITC" panose="03070402050302030203" pitchFamily="66" charset="0"/>
              </a:rPr>
              <a:t>Earth:   acc_ex = −G·ms·dx_es/r_es³  −  G·mj·dx_ej/r_ej³</a:t>
            </a:r>
          </a:p>
          <a:p>
            <a:r>
              <a:rPr lang="en-US" sz="2200" b="1" dirty="0">
                <a:latin typeface="Bradley Hand ITC" panose="03070402050302030203" pitchFamily="66" charset="0"/>
              </a:rPr>
              <a:t>Jupiter: acc_jx = −G·ms·dx_js/r_js³  −  G·me·dx_ej/r_ej³</a:t>
            </a:r>
          </a:p>
          <a:p>
            <a:r>
              <a:rPr lang="en-US" sz="2200" b="1" dirty="0">
                <a:latin typeface="Bradley Hand ITC" panose="03070402050302030203" pitchFamily="66" charset="0"/>
              </a:rPr>
              <a:t>Sun:     acc_sx = +G·me·dx_es/r_es³  +  G·mj·dx_js/r_js³</a:t>
            </a:r>
          </a:p>
          <a:p>
            <a:pPr marL="342900" indent="-342900">
              <a:buFont typeface="Arial" panose="020B0604020202020204" pitchFamily="34" charset="0"/>
              <a:buChar char="•"/>
            </a:pPr>
            <a:r>
              <a:rPr lang="en-US" sz="2200" b="1" dirty="0">
                <a:latin typeface="Bradley Hand ITC" panose="03070402050302030203" pitchFamily="66" charset="0"/>
              </a:rPr>
              <a:t>Step 8 — Run the simulation loop for 12 years</a:t>
            </a:r>
            <a:br>
              <a:rPr lang="en-US" sz="2200" b="1" dirty="0">
                <a:latin typeface="Bradley Hand ITC" panose="03070402050302030203" pitchFamily="66" charset="0"/>
              </a:rPr>
            </a:br>
            <a:r>
              <a:rPr lang="en-US" sz="2200" b="1" dirty="0">
                <a:latin typeface="Bradley Hand ITC" panose="03070402050302030203" pitchFamily="66" charset="0"/>
              </a:rPr>
              <a:t>We write a code using a loop, which allows the computer to repeat some equation by for some amount of time by updating the data values. It is called a for loop, and it allows us to perform millions of equations repeatedly. </a:t>
            </a:r>
          </a:p>
          <a:p>
            <a:pPr marL="342900" indent="-342900">
              <a:buFont typeface="Arial" panose="020B0604020202020204" pitchFamily="34" charset="0"/>
              <a:buChar char="•"/>
            </a:pPr>
            <a:r>
              <a:rPr lang="en-US" sz="2200" b="1" dirty="0">
                <a:latin typeface="Bradley Hand ITC" panose="03070402050302030203" pitchFamily="66" charset="0"/>
              </a:rPr>
              <a:t>Step 9 — Plot the full orbital paths</a:t>
            </a:r>
            <a:br>
              <a:rPr lang="en-US" sz="2200" b="1" dirty="0">
                <a:latin typeface="Bradley Hand ITC" panose="03070402050302030203" pitchFamily="66" charset="0"/>
              </a:rPr>
            </a:br>
            <a:r>
              <a:rPr lang="en-US" sz="2200" b="1" dirty="0">
                <a:latin typeface="Bradley Hand ITC" panose="03070402050302030203" pitchFamily="66" charset="0"/>
              </a:rPr>
              <a:t>Draw the complete trails of all three bodies as dashed lines (Sun in yellow, Earth in blue, Jupiter in red). </a:t>
            </a:r>
          </a:p>
          <a:p>
            <a:pPr marL="342900" indent="-342900">
              <a:buFont typeface="Arial" panose="020B0604020202020204" pitchFamily="34" charset="0"/>
              <a:buChar char="•"/>
            </a:pPr>
            <a:r>
              <a:rPr lang="en-US" sz="2200" b="1" dirty="0">
                <a:latin typeface="Bradley Hand ITC" panose="03070402050302030203" pitchFamily="66" charset="0"/>
              </a:rPr>
              <a:t>Step 10 — Animate the simulation</a:t>
            </a:r>
            <a:br>
              <a:rPr lang="en-US" sz="2200" b="1" dirty="0">
                <a:latin typeface="Bradley Hand ITC" panose="03070402050302030203" pitchFamily="66" charset="0"/>
              </a:rPr>
            </a:br>
            <a:r>
              <a:rPr lang="en-US" sz="2200" b="1" dirty="0">
                <a:latin typeface="Bradley Hand ITC" panose="03070402050302030203" pitchFamily="66" charset="0"/>
              </a:rPr>
              <a:t>Place a dot on each body's trail and move it forward every frame, skipping every 60 recorded steps so the animation plays at a visible speed rather than showing every single 5-minute increment.</a:t>
            </a:r>
          </a:p>
          <a:p>
            <a:r>
              <a:rPr lang="en-US" dirty="0"/>
              <a:t> </a:t>
            </a:r>
          </a:p>
          <a:p>
            <a:endParaRPr lang="en-US" dirty="0"/>
          </a:p>
        </p:txBody>
      </p:sp>
    </p:spTree>
    <p:extLst>
      <p:ext uri="{BB962C8B-B14F-4D97-AF65-F5344CB8AC3E}">
        <p14:creationId xmlns:p14="http://schemas.microsoft.com/office/powerpoint/2010/main" val="3490149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786C8-B61F-BCA2-3E40-46FD3555338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7E23129-9338-7276-8DFC-D660CC247D18}"/>
              </a:ext>
            </a:extLst>
          </p:cNvPr>
          <p:cNvPicPr>
            <a:picLocks noChangeAspect="1"/>
          </p:cNvPicPr>
          <p:nvPr/>
        </p:nvPicPr>
        <p:blipFill>
          <a:blip r:embed="rId2"/>
          <a:srcRect l="25839" b="31004"/>
          <a:stretch>
            <a:fillRect/>
          </a:stretch>
        </p:blipFill>
        <p:spPr>
          <a:xfrm>
            <a:off x="0" y="2126255"/>
            <a:ext cx="3595764" cy="4731745"/>
          </a:xfrm>
          <a:prstGeom prst="rect">
            <a:avLst/>
          </a:prstGeom>
        </p:spPr>
      </p:pic>
      <p:sp>
        <p:nvSpPr>
          <p:cNvPr id="4" name="TextBox 3">
            <a:extLst>
              <a:ext uri="{FF2B5EF4-FFF2-40B4-BE49-F238E27FC236}">
                <a16:creationId xmlns:a16="http://schemas.microsoft.com/office/drawing/2014/main" id="{09F291FC-B520-CA7C-6C77-724416D58BC4}"/>
              </a:ext>
            </a:extLst>
          </p:cNvPr>
          <p:cNvSpPr txBox="1"/>
          <p:nvPr/>
        </p:nvSpPr>
        <p:spPr>
          <a:xfrm>
            <a:off x="416689" y="462987"/>
            <a:ext cx="3090440" cy="584775"/>
          </a:xfrm>
          <a:prstGeom prst="rect">
            <a:avLst/>
          </a:prstGeom>
          <a:noFill/>
        </p:spPr>
        <p:txBody>
          <a:bodyPr wrap="square" rtlCol="0">
            <a:spAutoFit/>
          </a:bodyPr>
          <a:lstStyle/>
          <a:p>
            <a:r>
              <a:rPr lang="en-US" sz="3200" dirty="0">
                <a:latin typeface="Modern Love" panose="04090805081005020601" pitchFamily="82" charset="0"/>
              </a:rPr>
              <a:t>Assumptions</a:t>
            </a:r>
            <a:endParaRPr lang="en-US" dirty="0">
              <a:latin typeface="Modern Love" panose="04090805081005020601" pitchFamily="82" charset="0"/>
            </a:endParaRPr>
          </a:p>
        </p:txBody>
      </p:sp>
      <p:sp>
        <p:nvSpPr>
          <p:cNvPr id="5" name="TextBox 4">
            <a:extLst>
              <a:ext uri="{FF2B5EF4-FFF2-40B4-BE49-F238E27FC236}">
                <a16:creationId xmlns:a16="http://schemas.microsoft.com/office/drawing/2014/main" id="{3221CFEB-C930-0B44-7ACA-8501C96644D6}"/>
              </a:ext>
            </a:extLst>
          </p:cNvPr>
          <p:cNvSpPr txBox="1"/>
          <p:nvPr/>
        </p:nvSpPr>
        <p:spPr>
          <a:xfrm>
            <a:off x="3595764" y="1342663"/>
            <a:ext cx="7974957" cy="4524315"/>
          </a:xfrm>
          <a:prstGeom prst="rect">
            <a:avLst/>
          </a:prstGeom>
          <a:noFill/>
        </p:spPr>
        <p:txBody>
          <a:bodyPr wrap="square" rtlCol="0">
            <a:spAutoFit/>
          </a:bodyPr>
          <a:lstStyle/>
          <a:p>
            <a:pPr marL="457200" indent="-457200">
              <a:buFont typeface="Arial" panose="020B0604020202020204" pitchFamily="34" charset="0"/>
              <a:buChar char="•"/>
            </a:pPr>
            <a:r>
              <a:rPr lang="en-US" sz="3200" b="1" dirty="0">
                <a:latin typeface="Bradley Hand ITC" panose="03070402050302030203" pitchFamily="66" charset="0"/>
              </a:rPr>
              <a:t>Only the three bodies we selected are interacting in this system</a:t>
            </a:r>
          </a:p>
          <a:p>
            <a:pPr marL="457200" indent="-457200">
              <a:buFont typeface="Arial" panose="020B0604020202020204" pitchFamily="34" charset="0"/>
              <a:buChar char="•"/>
            </a:pPr>
            <a:endParaRPr lang="en-US" sz="3200" b="1" dirty="0">
              <a:latin typeface="Bradley Hand ITC" panose="03070402050302030203" pitchFamily="66" charset="0"/>
            </a:endParaRPr>
          </a:p>
          <a:p>
            <a:pPr marL="457200" indent="-457200">
              <a:buFont typeface="Arial" panose="020B0604020202020204" pitchFamily="34" charset="0"/>
              <a:buChar char="•"/>
            </a:pPr>
            <a:r>
              <a:rPr lang="en-US" sz="3200" b="1" dirty="0">
                <a:latin typeface="Bradley Hand ITC" panose="03070402050302030203" pitchFamily="66" charset="0"/>
              </a:rPr>
              <a:t>The only force acting on these bodies is gravity; we are assuming that the system is an isolated system.</a:t>
            </a:r>
          </a:p>
          <a:p>
            <a:pPr marL="457200" indent="-457200">
              <a:buFont typeface="Arial" panose="020B0604020202020204" pitchFamily="34" charset="0"/>
              <a:buChar char="•"/>
            </a:pPr>
            <a:endParaRPr lang="en-US" sz="3200" b="1" dirty="0">
              <a:latin typeface="Bradley Hand ITC" panose="03070402050302030203" pitchFamily="66" charset="0"/>
            </a:endParaRPr>
          </a:p>
          <a:p>
            <a:pPr marL="457200" indent="-457200">
              <a:buFont typeface="Arial" panose="020B0604020202020204" pitchFamily="34" charset="0"/>
              <a:buChar char="•"/>
            </a:pPr>
            <a:r>
              <a:rPr lang="en-US" sz="3200" b="1" dirty="0">
                <a:latin typeface="Bradley Hand ITC" panose="03070402050302030203" pitchFamily="66" charset="0"/>
              </a:rPr>
              <a:t>We assumed that this movement has a constant velocity for some bit of time. </a:t>
            </a:r>
          </a:p>
        </p:txBody>
      </p:sp>
    </p:spTree>
    <p:extLst>
      <p:ext uri="{BB962C8B-B14F-4D97-AF65-F5344CB8AC3E}">
        <p14:creationId xmlns:p14="http://schemas.microsoft.com/office/powerpoint/2010/main" val="3327888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BA729-51DF-1B3C-450C-E29E180BE4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B402FEC-8A0A-9235-6772-827EE7448BF4}"/>
              </a:ext>
            </a:extLst>
          </p:cNvPr>
          <p:cNvSpPr txBox="1"/>
          <p:nvPr/>
        </p:nvSpPr>
        <p:spPr>
          <a:xfrm>
            <a:off x="393539" y="474562"/>
            <a:ext cx="3125107" cy="646331"/>
          </a:xfrm>
          <a:prstGeom prst="rect">
            <a:avLst/>
          </a:prstGeom>
          <a:noFill/>
        </p:spPr>
        <p:txBody>
          <a:bodyPr wrap="square" rtlCol="0">
            <a:spAutoFit/>
          </a:bodyPr>
          <a:lstStyle/>
          <a:p>
            <a:r>
              <a:rPr lang="en-US" sz="3600">
                <a:latin typeface="Modern Love" panose="04090805081005020601" pitchFamily="82" charset="0"/>
              </a:rPr>
              <a:t>Findings</a:t>
            </a:r>
            <a:endParaRPr lang="en-US" dirty="0">
              <a:latin typeface="Modern Love" panose="04090805081005020601" pitchFamily="82" charset="0"/>
            </a:endParaRPr>
          </a:p>
        </p:txBody>
      </p:sp>
      <p:sp>
        <p:nvSpPr>
          <p:cNvPr id="5" name="TextBox 4">
            <a:extLst>
              <a:ext uri="{FF2B5EF4-FFF2-40B4-BE49-F238E27FC236}">
                <a16:creationId xmlns:a16="http://schemas.microsoft.com/office/drawing/2014/main" id="{F07FA948-11FE-8D8F-CDD7-F901C728559D}"/>
              </a:ext>
            </a:extLst>
          </p:cNvPr>
          <p:cNvSpPr txBox="1"/>
          <p:nvPr/>
        </p:nvSpPr>
        <p:spPr>
          <a:xfrm>
            <a:off x="3518646" y="490623"/>
            <a:ext cx="7917083" cy="1384995"/>
          </a:xfrm>
          <a:prstGeom prst="rect">
            <a:avLst/>
          </a:prstGeom>
          <a:noFill/>
        </p:spPr>
        <p:txBody>
          <a:bodyPr wrap="square" rtlCol="0">
            <a:spAutoFit/>
          </a:bodyPr>
          <a:lstStyle/>
          <a:p>
            <a:r>
              <a:rPr lang="en-US" sz="2800" b="1">
                <a:latin typeface="Bradley Hand ITC" panose="03070402050302030203" pitchFamily="66" charset="0"/>
              </a:rPr>
              <a:t>Through this experiment, we found out that Jupiter won’t pull the earth away from its orbit for the next 12 years. </a:t>
            </a:r>
            <a:endParaRPr lang="en-US" sz="2800" b="1" dirty="0">
              <a:latin typeface="Bradley Hand ITC" panose="03070402050302030203" pitchFamily="66" charset="0"/>
            </a:endParaRPr>
          </a:p>
        </p:txBody>
      </p:sp>
      <p:pic>
        <p:nvPicPr>
          <p:cNvPr id="7" name="Picture 6">
            <a:extLst>
              <a:ext uri="{FF2B5EF4-FFF2-40B4-BE49-F238E27FC236}">
                <a16:creationId xmlns:a16="http://schemas.microsoft.com/office/drawing/2014/main" id="{E192D30D-785D-341D-2692-2ACDDE43BD9E}"/>
              </a:ext>
            </a:extLst>
          </p:cNvPr>
          <p:cNvPicPr>
            <a:picLocks noChangeAspect="1"/>
          </p:cNvPicPr>
          <p:nvPr/>
        </p:nvPicPr>
        <p:blipFill>
          <a:blip r:embed="rId2">
            <a:extLst>
              <a:ext uri="{28A0092B-C50C-407E-A947-70E740481C1C}">
                <a14:useLocalDpi xmlns:a14="http://schemas.microsoft.com/office/drawing/2010/main" val="0"/>
              </a:ext>
            </a:extLst>
          </a:blip>
          <a:srcRect b="5418"/>
          <a:stretch>
            <a:fillRect/>
          </a:stretch>
        </p:blipFill>
        <p:spPr>
          <a:xfrm>
            <a:off x="2457214" y="2009183"/>
            <a:ext cx="6513166" cy="4848818"/>
          </a:xfrm>
          <a:prstGeom prst="rect">
            <a:avLst/>
          </a:prstGeom>
        </p:spPr>
      </p:pic>
    </p:spTree>
    <p:extLst>
      <p:ext uri="{BB962C8B-B14F-4D97-AF65-F5344CB8AC3E}">
        <p14:creationId xmlns:p14="http://schemas.microsoft.com/office/powerpoint/2010/main" val="2341044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E29C-B9A4-F87C-6FF9-D32C725231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7BE049-3EB4-356D-D774-E6624DBED8C9}"/>
              </a:ext>
            </a:extLst>
          </p:cNvPr>
          <p:cNvSpPr txBox="1"/>
          <p:nvPr/>
        </p:nvSpPr>
        <p:spPr>
          <a:xfrm>
            <a:off x="740780" y="393539"/>
            <a:ext cx="2176040" cy="1200329"/>
          </a:xfrm>
          <a:prstGeom prst="rect">
            <a:avLst/>
          </a:prstGeom>
          <a:noFill/>
        </p:spPr>
        <p:txBody>
          <a:bodyPr wrap="square" rtlCol="0">
            <a:spAutoFit/>
          </a:bodyPr>
          <a:lstStyle/>
          <a:p>
            <a:r>
              <a:rPr lang="en-US" sz="2400" dirty="0">
                <a:latin typeface="Modern Love" panose="04090805081005020601" pitchFamily="82" charset="0"/>
              </a:rPr>
              <a:t>Setbacks and model limitations</a:t>
            </a:r>
          </a:p>
        </p:txBody>
      </p:sp>
      <p:sp>
        <p:nvSpPr>
          <p:cNvPr id="5" name="TextBox 4">
            <a:extLst>
              <a:ext uri="{FF2B5EF4-FFF2-40B4-BE49-F238E27FC236}">
                <a16:creationId xmlns:a16="http://schemas.microsoft.com/office/drawing/2014/main" id="{32153757-18E8-436E-B839-28F8C7105576}"/>
              </a:ext>
            </a:extLst>
          </p:cNvPr>
          <p:cNvSpPr txBox="1"/>
          <p:nvPr/>
        </p:nvSpPr>
        <p:spPr>
          <a:xfrm>
            <a:off x="3680749" y="393539"/>
            <a:ext cx="6991109" cy="1508105"/>
          </a:xfrm>
          <a:prstGeom prst="rect">
            <a:avLst/>
          </a:prstGeom>
          <a:noFill/>
        </p:spPr>
        <p:txBody>
          <a:bodyPr wrap="square" rtlCol="0">
            <a:spAutoFit/>
          </a:bodyPr>
          <a:lstStyle/>
          <a:p>
            <a:r>
              <a:rPr lang="en-US" sz="2400" b="1" dirty="0">
                <a:latin typeface="Bradley Hand ITC" panose="03070402050302030203" pitchFamily="66" charset="0"/>
              </a:rPr>
              <a:t>One of the major setbacks on our project was the time constraint as two weeks time was rather too little to dive deep in such big sea of concept. </a:t>
            </a:r>
          </a:p>
          <a:p>
            <a:endParaRPr lang="en-US" sz="2000" b="1" dirty="0">
              <a:latin typeface="Bradley Hand ITC" panose="03070402050302030203" pitchFamily="66" charset="0"/>
            </a:endParaRPr>
          </a:p>
        </p:txBody>
      </p:sp>
      <p:pic>
        <p:nvPicPr>
          <p:cNvPr id="7" name="Picture 6">
            <a:extLst>
              <a:ext uri="{FF2B5EF4-FFF2-40B4-BE49-F238E27FC236}">
                <a16:creationId xmlns:a16="http://schemas.microsoft.com/office/drawing/2014/main" id="{B9D6C775-F527-46BD-EE50-7281B0C98921}"/>
              </a:ext>
            </a:extLst>
          </p:cNvPr>
          <p:cNvPicPr>
            <a:picLocks noChangeAspect="1"/>
          </p:cNvPicPr>
          <p:nvPr/>
        </p:nvPicPr>
        <p:blipFill>
          <a:blip r:embed="rId2"/>
          <a:stretch>
            <a:fillRect/>
          </a:stretch>
        </p:blipFill>
        <p:spPr>
          <a:xfrm>
            <a:off x="0" y="2171533"/>
            <a:ext cx="6457781" cy="4686467"/>
          </a:xfrm>
          <a:prstGeom prst="rect">
            <a:avLst/>
          </a:prstGeom>
        </p:spPr>
      </p:pic>
      <p:sp>
        <p:nvSpPr>
          <p:cNvPr id="8" name="TextBox 7">
            <a:extLst>
              <a:ext uri="{FF2B5EF4-FFF2-40B4-BE49-F238E27FC236}">
                <a16:creationId xmlns:a16="http://schemas.microsoft.com/office/drawing/2014/main" id="{E152FE6E-F928-36BC-0F76-9C6AE8411BF0}"/>
              </a:ext>
            </a:extLst>
          </p:cNvPr>
          <p:cNvSpPr txBox="1"/>
          <p:nvPr/>
        </p:nvSpPr>
        <p:spPr>
          <a:xfrm>
            <a:off x="7176303" y="2951544"/>
            <a:ext cx="3634451" cy="2954655"/>
          </a:xfrm>
          <a:prstGeom prst="rect">
            <a:avLst/>
          </a:prstGeom>
          <a:noFill/>
        </p:spPr>
        <p:txBody>
          <a:bodyPr wrap="square" rtlCol="0">
            <a:spAutoFit/>
          </a:bodyPr>
          <a:lstStyle/>
          <a:p>
            <a:r>
              <a:rPr lang="en-US" sz="2400" b="1" dirty="0">
                <a:latin typeface="Bradley Hand ITC" panose="03070402050302030203" pitchFamily="66" charset="0"/>
              </a:rPr>
              <a:t>Limitations of our model include the assumption in which the velocity was constant for some few minutes and the two-body formula we used to replace complicated formulas.  </a:t>
            </a:r>
          </a:p>
          <a:p>
            <a:endParaRPr lang="en-US" dirty="0"/>
          </a:p>
        </p:txBody>
      </p:sp>
    </p:spTree>
    <p:extLst>
      <p:ext uri="{BB962C8B-B14F-4D97-AF65-F5344CB8AC3E}">
        <p14:creationId xmlns:p14="http://schemas.microsoft.com/office/powerpoint/2010/main" val="997957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DF9E3-0CAE-2D64-04F6-A0AD459E97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FA4117-7254-A8BC-94F6-66037581E905}"/>
              </a:ext>
            </a:extLst>
          </p:cNvPr>
          <p:cNvSpPr txBox="1"/>
          <p:nvPr/>
        </p:nvSpPr>
        <p:spPr>
          <a:xfrm>
            <a:off x="196770" y="567159"/>
            <a:ext cx="2164465" cy="1077218"/>
          </a:xfrm>
          <a:prstGeom prst="rect">
            <a:avLst/>
          </a:prstGeom>
          <a:noFill/>
        </p:spPr>
        <p:txBody>
          <a:bodyPr wrap="square" rtlCol="0">
            <a:spAutoFit/>
          </a:bodyPr>
          <a:lstStyle/>
          <a:p>
            <a:r>
              <a:rPr lang="en-US" sz="3200" dirty="0">
                <a:latin typeface="Modern Love" panose="04090805081005020601" pitchFamily="82" charset="0"/>
              </a:rPr>
              <a:t>Bugs and errors</a:t>
            </a:r>
            <a:endParaRPr lang="en-US" dirty="0">
              <a:latin typeface="Modern Love" panose="04090805081005020601" pitchFamily="82" charset="0"/>
            </a:endParaRPr>
          </a:p>
        </p:txBody>
      </p:sp>
      <p:sp>
        <p:nvSpPr>
          <p:cNvPr id="5" name="TextBox 4">
            <a:extLst>
              <a:ext uri="{FF2B5EF4-FFF2-40B4-BE49-F238E27FC236}">
                <a16:creationId xmlns:a16="http://schemas.microsoft.com/office/drawing/2014/main" id="{CC89D999-16ED-15AB-32B3-EAC270232112}"/>
              </a:ext>
            </a:extLst>
          </p:cNvPr>
          <p:cNvSpPr txBox="1"/>
          <p:nvPr/>
        </p:nvSpPr>
        <p:spPr>
          <a:xfrm>
            <a:off x="2963119" y="219919"/>
            <a:ext cx="8912506" cy="1938992"/>
          </a:xfrm>
          <a:prstGeom prst="rect">
            <a:avLst/>
          </a:prstGeom>
          <a:noFill/>
        </p:spPr>
        <p:txBody>
          <a:bodyPr wrap="square" rtlCol="0">
            <a:spAutoFit/>
          </a:bodyPr>
          <a:lstStyle/>
          <a:p>
            <a:r>
              <a:rPr lang="en-US" sz="2400" b="1" dirty="0">
                <a:latin typeface="Bradley Hand ITC" panose="03070402050302030203" pitchFamily="66" charset="0"/>
              </a:rPr>
              <a:t>Even though our latest code doesn’t have these problems, we have encountered several bugs and logical errors in many parts of the code. These bugs and errors were many caused by complex naming and un-updated variables. They ended up creating empty and faulty graphs.  </a:t>
            </a:r>
          </a:p>
        </p:txBody>
      </p:sp>
      <p:pic>
        <p:nvPicPr>
          <p:cNvPr id="7" name="Picture 6">
            <a:extLst>
              <a:ext uri="{FF2B5EF4-FFF2-40B4-BE49-F238E27FC236}">
                <a16:creationId xmlns:a16="http://schemas.microsoft.com/office/drawing/2014/main" id="{91572E1D-7EF6-AEF9-22FB-B682DDB31F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4871" y="2603030"/>
            <a:ext cx="4482051" cy="3219036"/>
          </a:xfrm>
          <a:prstGeom prst="rect">
            <a:avLst/>
          </a:prstGeom>
        </p:spPr>
      </p:pic>
      <p:pic>
        <p:nvPicPr>
          <p:cNvPr id="9" name="Picture 8">
            <a:extLst>
              <a:ext uri="{FF2B5EF4-FFF2-40B4-BE49-F238E27FC236}">
                <a16:creationId xmlns:a16="http://schemas.microsoft.com/office/drawing/2014/main" id="{C2CB3AD7-7325-E163-3C21-C31213AE00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1503" y="2595427"/>
            <a:ext cx="4255625" cy="3226639"/>
          </a:xfrm>
          <a:prstGeom prst="rect">
            <a:avLst/>
          </a:prstGeom>
        </p:spPr>
      </p:pic>
    </p:spTree>
    <p:extLst>
      <p:ext uri="{BB962C8B-B14F-4D97-AF65-F5344CB8AC3E}">
        <p14:creationId xmlns:p14="http://schemas.microsoft.com/office/powerpoint/2010/main" val="90733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EE10F-C3C3-BE60-BA9C-8981B2F2E0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5B1633-B0B5-CA7C-78C4-4BFFCEBA4C63}"/>
              </a:ext>
            </a:extLst>
          </p:cNvPr>
          <p:cNvSpPr txBox="1"/>
          <p:nvPr/>
        </p:nvSpPr>
        <p:spPr>
          <a:xfrm>
            <a:off x="1166949" y="705154"/>
            <a:ext cx="1959429" cy="1754326"/>
          </a:xfrm>
          <a:prstGeom prst="rect">
            <a:avLst/>
          </a:prstGeom>
          <a:noFill/>
        </p:spPr>
        <p:txBody>
          <a:bodyPr wrap="square" rtlCol="0">
            <a:spAutoFit/>
          </a:bodyPr>
          <a:lstStyle/>
          <a:p>
            <a:r>
              <a:rPr lang="en-US" sz="3600" b="1">
                <a:latin typeface="Modern Love" panose="04090805081005020601" pitchFamily="82" charset="0"/>
              </a:rPr>
              <a:t>Special thanks to:</a:t>
            </a:r>
            <a:endParaRPr lang="en-US" sz="3600" dirty="0"/>
          </a:p>
        </p:txBody>
      </p:sp>
      <p:sp>
        <p:nvSpPr>
          <p:cNvPr id="8" name="TextBox 7">
            <a:extLst>
              <a:ext uri="{FF2B5EF4-FFF2-40B4-BE49-F238E27FC236}">
                <a16:creationId xmlns:a16="http://schemas.microsoft.com/office/drawing/2014/main" id="{2818C4DC-7B0A-7C39-6353-BBBB99187AB2}"/>
              </a:ext>
            </a:extLst>
          </p:cNvPr>
          <p:cNvSpPr txBox="1"/>
          <p:nvPr/>
        </p:nvSpPr>
        <p:spPr>
          <a:xfrm>
            <a:off x="3692434" y="2553023"/>
            <a:ext cx="5834743" cy="2954655"/>
          </a:xfrm>
          <a:prstGeom prst="rect">
            <a:avLst/>
          </a:prstGeom>
          <a:noFill/>
        </p:spPr>
        <p:txBody>
          <a:bodyPr wrap="square" rtlCol="0">
            <a:spAutoFit/>
          </a:bodyPr>
          <a:lstStyle/>
          <a:p>
            <a:r>
              <a:rPr lang="en-US" sz="2800" b="1">
                <a:latin typeface="Bradley Hand ITC" panose="03070402050302030203" pitchFamily="66" charset="0"/>
              </a:rPr>
              <a:t>Our mentors Dr. Dagne, Getsh and Bruh</a:t>
            </a:r>
          </a:p>
          <a:p>
            <a:r>
              <a:rPr lang="en-US" sz="2800" b="1">
                <a:latin typeface="Bradley Hand ITC" panose="03070402050302030203" pitchFamily="66" charset="0"/>
              </a:rPr>
              <a:t>Family and friends who supported us through this journey</a:t>
            </a:r>
          </a:p>
          <a:p>
            <a:r>
              <a:rPr lang="en-US" sz="2800" b="1">
                <a:latin typeface="Bradley Hand ITC" panose="03070402050302030203" pitchFamily="66" charset="0"/>
              </a:rPr>
              <a:t>And our audience for listening to our presentation. </a:t>
            </a:r>
          </a:p>
          <a:p>
            <a:endParaRPr lang="en-US" dirty="0"/>
          </a:p>
        </p:txBody>
      </p:sp>
      <p:pic>
        <p:nvPicPr>
          <p:cNvPr id="11" name="Picture 10">
            <a:extLst>
              <a:ext uri="{FF2B5EF4-FFF2-40B4-BE49-F238E27FC236}">
                <a16:creationId xmlns:a16="http://schemas.microsoft.com/office/drawing/2014/main" id="{E542A528-BD90-C2B9-DAC7-A314D0902DD0}"/>
              </a:ext>
            </a:extLst>
          </p:cNvPr>
          <p:cNvPicPr>
            <a:picLocks noChangeAspect="1"/>
          </p:cNvPicPr>
          <p:nvPr/>
        </p:nvPicPr>
        <p:blipFill>
          <a:blip r:embed="rId2"/>
          <a:srcRect l="-3103" t="-2700" r="38234" b="45275"/>
          <a:stretch>
            <a:fillRect/>
          </a:stretch>
        </p:blipFill>
        <p:spPr>
          <a:xfrm rot="5400000">
            <a:off x="396474" y="3316280"/>
            <a:ext cx="3145244" cy="3938195"/>
          </a:xfrm>
          <a:prstGeom prst="rect">
            <a:avLst/>
          </a:prstGeom>
        </p:spPr>
      </p:pic>
    </p:spTree>
    <p:extLst>
      <p:ext uri="{BB962C8B-B14F-4D97-AF65-F5344CB8AC3E}">
        <p14:creationId xmlns:p14="http://schemas.microsoft.com/office/powerpoint/2010/main" val="3615485019"/>
      </p:ext>
    </p:extLst>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docProps/app.xml><?xml version="1.0" encoding="utf-8"?>
<Properties xmlns="http://schemas.openxmlformats.org/officeDocument/2006/extended-properties" xmlns:vt="http://schemas.openxmlformats.org/officeDocument/2006/docPropsVTypes">
  <Template>Dune</Template>
  <TotalTime>213</TotalTime>
  <Words>1114</Words>
  <Application>Microsoft Office PowerPoint</Application>
  <PresentationFormat>Widescreen</PresentationFormat>
  <Paragraphs>82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Bradley Hand ITC</vt:lpstr>
      <vt:lpstr>Courier New</vt:lpstr>
      <vt:lpstr>Modern Love</vt:lpstr>
      <vt:lpstr>Neue Haas Grotesk Text Pro</vt:lpstr>
      <vt:lpstr>Dune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meskeremworku1431@gmail.com</dc:creator>
  <cp:lastModifiedBy>meskeremworku1431@gmail.com</cp:lastModifiedBy>
  <cp:revision>3</cp:revision>
  <dcterms:created xsi:type="dcterms:W3CDTF">2026-09-05T02:26:31Z</dcterms:created>
  <dcterms:modified xsi:type="dcterms:W3CDTF">2026-09-05T07:53:18Z</dcterms:modified>
</cp:coreProperties>
</file>